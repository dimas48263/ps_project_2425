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4" r:id="rId3"/>
    <p:sldId id="282" r:id="rId4"/>
    <p:sldId id="280" r:id="rId5"/>
    <p:sldId id="283" r:id="rId6"/>
    <p:sldId id="277" r:id="rId7"/>
    <p:sldId id="259" r:id="rId8"/>
    <p:sldId id="284" r:id="rId9"/>
    <p:sldId id="265" r:id="rId10"/>
    <p:sldId id="267" r:id="rId11"/>
    <p:sldId id="285" r:id="rId12"/>
    <p:sldId id="270" r:id="rId13"/>
    <p:sldId id="271" r:id="rId14"/>
    <p:sldId id="272" r:id="rId15"/>
    <p:sldId id="268" r:id="rId16"/>
    <p:sldId id="269" r:id="rId17"/>
    <p:sldId id="286" r:id="rId18"/>
    <p:sldId id="274" r:id="rId19"/>
    <p:sldId id="279" r:id="rId20"/>
    <p:sldId id="287" r:id="rId21"/>
    <p:sldId id="289" r:id="rId22"/>
    <p:sldId id="266" r:id="rId23"/>
    <p:sldId id="281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C28"/>
    <a:srgbClr val="FF5050"/>
    <a:srgbClr val="F2B800"/>
    <a:srgbClr val="D5D5FF"/>
    <a:srgbClr val="DCF3FC"/>
    <a:srgbClr val="FFE1E1"/>
    <a:srgbClr val="FF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0D08A0-2CFC-4E5E-AB51-261BF4C17441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</dgm:pt>
    <dgm:pt modelId="{E17FBB7E-58E3-45D9-B89F-EC526482D269}">
      <dgm:prSet phldrT="[Texto]"/>
      <dgm:spPr>
        <a:solidFill>
          <a:srgbClr val="FF5050"/>
        </a:solidFill>
      </dgm:spPr>
      <dgm:t>
        <a:bodyPr/>
        <a:lstStyle/>
        <a:p>
          <a:r>
            <a:rPr lang="pt-PT" dirty="0"/>
            <a:t>Acidente/catástrofe</a:t>
          </a:r>
        </a:p>
      </dgm:t>
    </dgm:pt>
    <dgm:pt modelId="{78263DCF-71C0-44E0-ADA3-630753E8438A}" type="parTrans" cxnId="{480477B0-8AD8-4363-A90F-9CD1A8EEA1B1}">
      <dgm:prSet/>
      <dgm:spPr/>
      <dgm:t>
        <a:bodyPr/>
        <a:lstStyle/>
        <a:p>
          <a:endParaRPr lang="pt-PT"/>
        </a:p>
      </dgm:t>
    </dgm:pt>
    <dgm:pt modelId="{71304BA4-1BED-4AE1-A4EA-0AF6CB786D44}" type="sibTrans" cxnId="{480477B0-8AD8-4363-A90F-9CD1A8EEA1B1}">
      <dgm:prSet/>
      <dgm:spPr/>
      <dgm:t>
        <a:bodyPr/>
        <a:lstStyle/>
        <a:p>
          <a:endParaRPr lang="pt-PT"/>
        </a:p>
      </dgm:t>
    </dgm:pt>
    <dgm:pt modelId="{04DB426D-0925-4F60-8474-DB05254972DE}">
      <dgm:prSet phldrT="[Texto]"/>
      <dgm:spPr>
        <a:solidFill>
          <a:srgbClr val="F2B800"/>
        </a:solidFill>
      </dgm:spPr>
      <dgm:t>
        <a:bodyPr/>
        <a:lstStyle/>
        <a:p>
          <a:r>
            <a:rPr lang="pt-PT" dirty="0"/>
            <a:t>Fuga</a:t>
          </a:r>
          <a:br>
            <a:rPr lang="pt-PT" dirty="0"/>
          </a:br>
          <a:r>
            <a:rPr lang="pt-PT" dirty="0"/>
            <a:t>Procura de abrigo</a:t>
          </a:r>
        </a:p>
      </dgm:t>
    </dgm:pt>
    <dgm:pt modelId="{AF81CF14-2E1F-4970-BC46-3B9A24425BE0}" type="parTrans" cxnId="{68BDDFB2-0249-4024-9983-0B4F47BF7083}">
      <dgm:prSet/>
      <dgm:spPr/>
      <dgm:t>
        <a:bodyPr/>
        <a:lstStyle/>
        <a:p>
          <a:endParaRPr lang="pt-PT"/>
        </a:p>
      </dgm:t>
    </dgm:pt>
    <dgm:pt modelId="{D8E40828-4203-4EFD-951B-BDA54DA2648B}" type="sibTrans" cxnId="{68BDDFB2-0249-4024-9983-0B4F47BF7083}">
      <dgm:prSet/>
      <dgm:spPr/>
      <dgm:t>
        <a:bodyPr/>
        <a:lstStyle/>
        <a:p>
          <a:endParaRPr lang="pt-PT"/>
        </a:p>
      </dgm:t>
    </dgm:pt>
    <dgm:pt modelId="{B20AE8D9-202C-4040-B217-56F2E174B04E}">
      <dgm:prSet phldrT="[Texto]"/>
      <dgm:spPr>
        <a:solidFill>
          <a:srgbClr val="00B050"/>
        </a:solidFill>
      </dgm:spPr>
      <dgm:t>
        <a:bodyPr/>
        <a:lstStyle/>
        <a:p>
          <a:r>
            <a:rPr lang="pt-PT" dirty="0"/>
            <a:t>Local Seguro</a:t>
          </a:r>
        </a:p>
      </dgm:t>
    </dgm:pt>
    <dgm:pt modelId="{C850C275-9421-45C3-89F1-AA0268CD10A0}" type="parTrans" cxnId="{1061E80B-C1B2-4061-8FA8-55AD320B0383}">
      <dgm:prSet/>
      <dgm:spPr/>
      <dgm:t>
        <a:bodyPr/>
        <a:lstStyle/>
        <a:p>
          <a:endParaRPr lang="pt-PT"/>
        </a:p>
      </dgm:t>
    </dgm:pt>
    <dgm:pt modelId="{DD42D890-5921-4FB6-B468-A5FF3CB4B538}" type="sibTrans" cxnId="{1061E80B-C1B2-4061-8FA8-55AD320B0383}">
      <dgm:prSet/>
      <dgm:spPr/>
      <dgm:t>
        <a:bodyPr/>
        <a:lstStyle/>
        <a:p>
          <a:endParaRPr lang="pt-PT"/>
        </a:p>
      </dgm:t>
    </dgm:pt>
    <dgm:pt modelId="{D6D0CFA7-407C-457C-9E54-CB8F0ED190BD}" type="pres">
      <dgm:prSet presAssocID="{600D08A0-2CFC-4E5E-AB51-261BF4C17441}" presName="Name0" presStyleCnt="0">
        <dgm:presLayoutVars>
          <dgm:dir/>
          <dgm:animLvl val="lvl"/>
          <dgm:resizeHandles val="exact"/>
        </dgm:presLayoutVars>
      </dgm:prSet>
      <dgm:spPr/>
    </dgm:pt>
    <dgm:pt modelId="{41C8224A-CBE3-4C9F-B1E8-409FE1AB0158}" type="pres">
      <dgm:prSet presAssocID="{E17FBB7E-58E3-45D9-B89F-EC526482D269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753FF37-BC6C-4F81-B31B-AC5B49F20221}" type="pres">
      <dgm:prSet presAssocID="{71304BA4-1BED-4AE1-A4EA-0AF6CB786D44}" presName="parTxOnlySpace" presStyleCnt="0"/>
      <dgm:spPr/>
    </dgm:pt>
    <dgm:pt modelId="{898B5BC0-609D-41DC-8BE6-0BF5C76D6823}" type="pres">
      <dgm:prSet presAssocID="{04DB426D-0925-4F60-8474-DB05254972D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F8D39EA-5ED1-455D-A31A-E5D333AB2CF5}" type="pres">
      <dgm:prSet presAssocID="{D8E40828-4203-4EFD-951B-BDA54DA2648B}" presName="parTxOnlySpace" presStyleCnt="0"/>
      <dgm:spPr/>
    </dgm:pt>
    <dgm:pt modelId="{8125CC44-5A39-4B35-AAA1-05F2FDE05E08}" type="pres">
      <dgm:prSet presAssocID="{B20AE8D9-202C-4040-B217-56F2E174B04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061E80B-C1B2-4061-8FA8-55AD320B0383}" srcId="{600D08A0-2CFC-4E5E-AB51-261BF4C17441}" destId="{B20AE8D9-202C-4040-B217-56F2E174B04E}" srcOrd="2" destOrd="0" parTransId="{C850C275-9421-45C3-89F1-AA0268CD10A0}" sibTransId="{DD42D890-5921-4FB6-B468-A5FF3CB4B538}"/>
    <dgm:cxn modelId="{5FE72A1D-67E6-4CB8-8389-F50D2A594BC5}" type="presOf" srcId="{E17FBB7E-58E3-45D9-B89F-EC526482D269}" destId="{41C8224A-CBE3-4C9F-B1E8-409FE1AB0158}" srcOrd="0" destOrd="0" presId="urn:microsoft.com/office/officeart/2005/8/layout/chevron1"/>
    <dgm:cxn modelId="{6E41C24F-5E92-4AD2-8B45-702E78035FCC}" type="presOf" srcId="{B20AE8D9-202C-4040-B217-56F2E174B04E}" destId="{8125CC44-5A39-4B35-AAA1-05F2FDE05E08}" srcOrd="0" destOrd="0" presId="urn:microsoft.com/office/officeart/2005/8/layout/chevron1"/>
    <dgm:cxn modelId="{480477B0-8AD8-4363-A90F-9CD1A8EEA1B1}" srcId="{600D08A0-2CFC-4E5E-AB51-261BF4C17441}" destId="{E17FBB7E-58E3-45D9-B89F-EC526482D269}" srcOrd="0" destOrd="0" parTransId="{78263DCF-71C0-44E0-ADA3-630753E8438A}" sibTransId="{71304BA4-1BED-4AE1-A4EA-0AF6CB786D44}"/>
    <dgm:cxn modelId="{B5ACF9B0-3EC6-443B-BE88-712FED5DA877}" type="presOf" srcId="{600D08A0-2CFC-4E5E-AB51-261BF4C17441}" destId="{D6D0CFA7-407C-457C-9E54-CB8F0ED190BD}" srcOrd="0" destOrd="0" presId="urn:microsoft.com/office/officeart/2005/8/layout/chevron1"/>
    <dgm:cxn modelId="{68BDDFB2-0249-4024-9983-0B4F47BF7083}" srcId="{600D08A0-2CFC-4E5E-AB51-261BF4C17441}" destId="{04DB426D-0925-4F60-8474-DB05254972DE}" srcOrd="1" destOrd="0" parTransId="{AF81CF14-2E1F-4970-BC46-3B9A24425BE0}" sibTransId="{D8E40828-4203-4EFD-951B-BDA54DA2648B}"/>
    <dgm:cxn modelId="{4928AEEB-B02B-4DE9-AD95-93A3D3139424}" type="presOf" srcId="{04DB426D-0925-4F60-8474-DB05254972DE}" destId="{898B5BC0-609D-41DC-8BE6-0BF5C76D6823}" srcOrd="0" destOrd="0" presId="urn:microsoft.com/office/officeart/2005/8/layout/chevron1"/>
    <dgm:cxn modelId="{98F4FE19-411B-4028-917E-18F3BC6DA95A}" type="presParOf" srcId="{D6D0CFA7-407C-457C-9E54-CB8F0ED190BD}" destId="{41C8224A-CBE3-4C9F-B1E8-409FE1AB0158}" srcOrd="0" destOrd="0" presId="urn:microsoft.com/office/officeart/2005/8/layout/chevron1"/>
    <dgm:cxn modelId="{D8C2B165-36C2-4CD0-BB5E-F05699AE2995}" type="presParOf" srcId="{D6D0CFA7-407C-457C-9E54-CB8F0ED190BD}" destId="{8753FF37-BC6C-4F81-B31B-AC5B49F20221}" srcOrd="1" destOrd="0" presId="urn:microsoft.com/office/officeart/2005/8/layout/chevron1"/>
    <dgm:cxn modelId="{0DCD8E97-5383-4D79-A624-2D1B60181D2C}" type="presParOf" srcId="{D6D0CFA7-407C-457C-9E54-CB8F0ED190BD}" destId="{898B5BC0-609D-41DC-8BE6-0BF5C76D6823}" srcOrd="2" destOrd="0" presId="urn:microsoft.com/office/officeart/2005/8/layout/chevron1"/>
    <dgm:cxn modelId="{E3BBD4CC-A6B0-437A-9F6A-A2DB2C6A59ED}" type="presParOf" srcId="{D6D0CFA7-407C-457C-9E54-CB8F0ED190BD}" destId="{DF8D39EA-5ED1-455D-A31A-E5D333AB2CF5}" srcOrd="3" destOrd="0" presId="urn:microsoft.com/office/officeart/2005/8/layout/chevron1"/>
    <dgm:cxn modelId="{95B3F1A1-23FD-48A2-99A1-B100F50A7B0B}" type="presParOf" srcId="{D6D0CFA7-407C-457C-9E54-CB8F0ED190BD}" destId="{8125CC44-5A39-4B35-AAA1-05F2FDE05E08}" srcOrd="4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8224A-CBE3-4C9F-B1E8-409FE1AB0158}">
      <dsp:nvSpPr>
        <dsp:cNvPr id="0" name=""/>
        <dsp:cNvSpPr/>
      </dsp:nvSpPr>
      <dsp:spPr>
        <a:xfrm>
          <a:off x="3571" y="0"/>
          <a:ext cx="4351736" cy="830998"/>
        </a:xfrm>
        <a:prstGeom prst="chevron">
          <a:avLst/>
        </a:prstGeom>
        <a:solidFill>
          <a:srgbClr val="FF5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 dirty="0"/>
            <a:t>Acidente/catástrofe</a:t>
          </a:r>
        </a:p>
      </dsp:txBody>
      <dsp:txXfrm>
        <a:off x="419070" y="0"/>
        <a:ext cx="3520738" cy="830998"/>
      </dsp:txXfrm>
    </dsp:sp>
    <dsp:sp modelId="{898B5BC0-609D-41DC-8BE6-0BF5C76D6823}">
      <dsp:nvSpPr>
        <dsp:cNvPr id="0" name=""/>
        <dsp:cNvSpPr/>
      </dsp:nvSpPr>
      <dsp:spPr>
        <a:xfrm>
          <a:off x="3920134" y="0"/>
          <a:ext cx="4351736" cy="830998"/>
        </a:xfrm>
        <a:prstGeom prst="chevron">
          <a:avLst/>
        </a:prstGeom>
        <a:solidFill>
          <a:srgbClr val="F2B8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 dirty="0"/>
            <a:t>Fuga</a:t>
          </a:r>
          <a:br>
            <a:rPr lang="pt-PT" sz="2700" kern="1200" dirty="0"/>
          </a:br>
          <a:r>
            <a:rPr lang="pt-PT" sz="2700" kern="1200" dirty="0"/>
            <a:t>Procura de abrigo</a:t>
          </a:r>
        </a:p>
      </dsp:txBody>
      <dsp:txXfrm>
        <a:off x="4335633" y="0"/>
        <a:ext cx="3520738" cy="830998"/>
      </dsp:txXfrm>
    </dsp:sp>
    <dsp:sp modelId="{8125CC44-5A39-4B35-AAA1-05F2FDE05E08}">
      <dsp:nvSpPr>
        <dsp:cNvPr id="0" name=""/>
        <dsp:cNvSpPr/>
      </dsp:nvSpPr>
      <dsp:spPr>
        <a:xfrm>
          <a:off x="7836696" y="0"/>
          <a:ext cx="4351736" cy="830998"/>
        </a:xfrm>
        <a:prstGeom prst="chevron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 dirty="0"/>
            <a:t>Local Seguro</a:t>
          </a:r>
        </a:p>
      </dsp:txBody>
      <dsp:txXfrm>
        <a:off x="8252195" y="0"/>
        <a:ext cx="3520738" cy="8309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4A189F-1018-9D9F-796E-D4EE6BDF2F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PT"/>
              <a:t>aaaaa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4E89A-DF68-334B-FB86-8DB400ADDC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7BD8E-1C8A-4433-8432-974F432F4376}" type="datetimeFigureOut">
              <a:rPr lang="pt-PT" smtClean="0"/>
              <a:t>25/07/2025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E6071-3414-C8AE-4929-4E4CF7DA0C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BF17C-17DE-8E9F-409A-16C8B51D9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D41A4-0FC1-4ADA-9510-805F4CB9FBD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583128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PT"/>
              <a:t>aaaaa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EFE2F-54A3-4EB0-99A4-527C8E036118}" type="datetimeFigureOut">
              <a:rPr lang="pt-PT" smtClean="0"/>
              <a:t>25/07/2025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7F07C-C64F-4847-B838-44D0835CC6F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26616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611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536B-E02B-95AD-5F25-11A0E2F7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673E288-A71D-C9B7-A529-7FC3BBB0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1493521-1FC7-820F-4CF7-B510A497C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7A46F19-103C-3582-9E72-F3C81D679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86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9829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4917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B7ED-BA92-4F2C-126D-23A129A40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ECCE204-4823-252D-22FB-27A7C42B7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7446420-8E83-21DC-9874-2F57E5F12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8070C4-300E-1721-5578-7B04E3924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86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ED3EB-56C4-9272-03EC-6DB0D31F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1EC366D-369C-467F-F56E-D8BBB13F1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90F80A2-D9D6-E101-D965-925944BC9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E7370AF-FB52-7004-08D5-89C519ECF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87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48023-8B0B-5D96-DD3C-8F091736E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238FBB5-D19E-7761-440C-F239488A7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2E09094-A65A-34E2-AEF9-79F1CBE5D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D554C8C-DF5E-0BE8-47D6-202ABAF32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19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6585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B734-53F5-4331-A4E8-022C109A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C33EADE-10C8-52A4-E629-7AB709977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62549D7-216F-5A2D-EFAE-CE2017E84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D75240C-B19C-B4D1-A3A4-8136D0679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8586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D623-57B9-60D9-FF90-A35E554F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D4DE7B4-9F72-8C88-1A25-B2B1B9437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B283C77-E7D3-3EB1-C34E-C30E11CEE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035F93E-A083-451C-EDBE-E1CFA9F7C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7F07C-C64F-4847-B838-44D0835CC6FF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2351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D450B-0C5E-49FF-40CF-F5AC69219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E40678-85DD-D39C-684D-038D90BDD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0F846F8-6D33-C89C-CCDA-FF888703E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33937-2549-438F-95F8-DFEFB298D8DC}" type="datetime1">
              <a:rPr lang="pt-PT" smtClean="0"/>
              <a:t>25/07/2025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C6E8826-A1FE-F079-A818-54FF618F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D57EFF5-38B8-C708-4378-7986CB75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80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E622C-F623-E781-174E-386E5DF9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D487583-83F0-21BB-9894-9DFC71536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F1DF5DA-A0D6-0F00-3CF1-6E2F0E64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C323-469C-4FEE-A7DB-CB8A24B32C5A}" type="datetime1">
              <a:rPr lang="pt-PT" smtClean="0"/>
              <a:t>25/07/2025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DC77D7A-36B1-8DE3-4268-E12798F9A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B0AD7AE-5427-153A-4DBF-F2A10B94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007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E7200-9D87-B2C5-AB55-2361CF29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416F3F4-9725-D446-EBE3-8F68BEFF6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6410DF-82A3-DA2F-7D3D-5855126D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43CB-1398-40EE-AA52-875899E57396}" type="datetime1">
              <a:rPr lang="pt-PT" smtClean="0"/>
              <a:t>25/07/2025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BD9416F-AA3B-3F41-C076-3A180FBC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73E5695-1C40-19BD-5CFB-632DDAD0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868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9D2CA-5703-0CB5-A599-7C61E9EE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0A05763-C0B0-3243-657B-267574498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7FD4CA-A910-0ECE-F310-AD1A4AC46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06172A1-63EC-E948-67E7-DAFDF3DB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3FBB-CFA7-4875-AFDE-4AE2C1BDA095}" type="datetime1">
              <a:rPr lang="pt-PT" smtClean="0"/>
              <a:t>25/07/2025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EB57B73-0649-2657-913B-B37C7CF0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8DA4843-E924-39F9-E95E-EAA8BA58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390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6DB02-CA62-3390-6CB8-F2B7BE4C4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28542BB-5892-8083-F17D-01D7EFFD8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98A1101-27B7-AC27-BF41-D23F9BC8A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616C710-9EFB-2D51-FFE2-72924E34B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E8B9502-CECE-BE2E-A8F0-3531CE049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6B92382-CC16-065E-8524-AA24D852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35E07-9CC2-45D2-BFA4-9728F345FD31}" type="datetime1">
              <a:rPr lang="pt-PT" smtClean="0"/>
              <a:t>25/07/2025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B0C426B-E419-3801-9513-2DA38F33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CA0D51FA-595F-B4F1-75C5-4E5CF268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011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925E-7C2F-9AB5-E558-AE94BB27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A439700-7B9C-7382-50D4-4B20944F3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624A-6F59-4234-89E7-7071B906D3B0}" type="datetime1">
              <a:rPr lang="pt-PT" smtClean="0"/>
              <a:t>25/07/2025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F75CECE-4AEC-DC22-8681-5B6607FC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5420F59-5F39-0277-7B00-34615DC7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716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F78319C-95F5-393C-34BE-A36F8784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6E97C-E265-4EAA-A274-D7599F390DC9}" type="datetime1">
              <a:rPr lang="pt-PT" smtClean="0"/>
              <a:t>25/07/2025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52BD0FB-E367-028F-33AC-826A9A78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78CF89B-0C03-E592-10FE-DAF3126B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7843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2D240-E12F-1ADE-752C-E1D086A0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A571F45-C7C0-6C06-B6E4-DC3AD51AC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68B1061-B7E7-A751-BE2A-262764151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45728F3-FDC3-1081-B8C6-500FFDF3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48E7-9326-4BC3-9B81-2B11F79240D0}" type="datetime1">
              <a:rPr lang="pt-PT" smtClean="0"/>
              <a:t>25/07/2025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68E00D1-5043-1764-76C1-2A10630A5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129FF65-397B-27E5-9435-7E639F02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624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36160-67A0-97CA-16A2-04A29483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0D9BF121-FD9C-DFD0-B078-3CED906F7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3B1CD45-0A6C-008E-C469-CAEF72FCC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1A48CAD-1630-F0FF-E5EC-21387E22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4FD35-5861-4457-BCF1-C8B76237CB36}" type="datetime1">
              <a:rPr lang="pt-PT" smtClean="0"/>
              <a:t>25/07/2025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AF4019B-F9A3-A48C-FCD3-1E6910A6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FBDF271-5239-2F65-F2E8-8C554D9A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370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39250-5AB6-85E1-D1DC-DF2AAE0F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54B3A11-158F-FF32-C0DA-8E9DF8FB7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A95EE4-260E-44AD-0561-AE05B14B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B041-81E5-4102-B089-18E71A2B2EBC}" type="datetime1">
              <a:rPr lang="pt-PT" smtClean="0"/>
              <a:t>25/07/2025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5817A9A-EF93-C73D-F13F-67DC037B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934C2DA-AC23-0906-134F-64ECEF4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28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D31E5B-8408-649D-B6F7-BF380248C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71FEACA-5184-96EB-AC6D-7BC3E583E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FF6026-1D04-C534-67F5-21A66527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2DF7-D89F-4FB6-BEF4-B8B603FF5863}" type="datetime1">
              <a:rPr lang="pt-PT" smtClean="0"/>
              <a:t>25/07/2025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900E16-4EBE-A9C6-2427-0DE82B982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D8A2483-24ED-8B5A-3BA5-996DCBD1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9930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1E1">
                <a:alpha val="50000"/>
                <a:lumMod val="100000"/>
              </a:srgbClr>
            </a:gs>
            <a:gs pos="48000">
              <a:schemeClr val="bg1"/>
            </a:gs>
            <a:gs pos="100000">
              <a:srgbClr val="D5D5FF">
                <a:alpha val="50000"/>
              </a:srgb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5D938EB4-EC21-FA10-EC2C-EFF0A8FB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0E56683-B886-5E6A-B157-A4C85D8ED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B2A473F-4E1D-9D51-F58F-D3363AEFB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AA21E-EED5-41CE-8191-B6479F4D8A7F}" type="datetime1">
              <a:rPr lang="pt-PT" smtClean="0"/>
              <a:t>25/07/2025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1D8ADB0-CA6E-FAAA-FC70-11CBB4D36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4FE0005-5EE6-5920-1B70-CBF4FD80B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70A3B-5F76-43E9-8B14-C31B86FEBF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002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Layout" Target="../diagrams/layout1.xm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6" Type="http://schemas.microsoft.com/office/2007/relationships/diagramDrawing" Target="../diagrams/drawing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diagramColors" Target="../diagrams/colors1.xml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bmp"/><Relationship Id="rId2" Type="http://schemas.openxmlformats.org/officeDocument/2006/relationships/image" Target="../media/image12.b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21.png"/><Relationship Id="rId4" Type="http://schemas.openxmlformats.org/officeDocument/2006/relationships/image" Target="../media/image38.png"/><Relationship Id="rId9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b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9374F3F-0B55-67B0-69E0-5CDADED33523}"/>
              </a:ext>
            </a:extLst>
          </p:cNvPr>
          <p:cNvSpPr/>
          <p:nvPr/>
        </p:nvSpPr>
        <p:spPr>
          <a:xfrm>
            <a:off x="0" y="2169975"/>
            <a:ext cx="1219200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600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Apresentação Final</a:t>
            </a:r>
            <a:endParaRPr lang="pt-PT" sz="6000" b="0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F4B94D-BF81-77F3-4EC5-C6894D87EBAA}"/>
              </a:ext>
            </a:extLst>
          </p:cNvPr>
          <p:cNvSpPr txBox="1"/>
          <p:nvPr/>
        </p:nvSpPr>
        <p:spPr>
          <a:xfrm>
            <a:off x="443257" y="5214930"/>
            <a:ext cx="33568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u="sng" dirty="0"/>
              <a:t>Estudantes (grupo 43)</a:t>
            </a:r>
          </a:p>
          <a:p>
            <a:endParaRPr lang="pt-PT" sz="2400" u="sng" dirty="0"/>
          </a:p>
          <a:p>
            <a:r>
              <a:rPr lang="pt-PT" sz="2400" dirty="0"/>
              <a:t>Luis Alves – 46974</a:t>
            </a:r>
          </a:p>
          <a:p>
            <a:r>
              <a:rPr lang="pt-PT" sz="2400" dirty="0"/>
              <a:t>Gonçalo Dimas -  48263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F3357C-9017-E86F-FEC5-650046296B43}"/>
              </a:ext>
            </a:extLst>
          </p:cNvPr>
          <p:cNvSpPr txBox="1"/>
          <p:nvPr/>
        </p:nvSpPr>
        <p:spPr>
          <a:xfrm>
            <a:off x="8771743" y="5214930"/>
            <a:ext cx="22897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u="sng" dirty="0"/>
              <a:t>Orientadores</a:t>
            </a:r>
          </a:p>
          <a:p>
            <a:endParaRPr lang="pt-PT" sz="2400" u="sng" dirty="0"/>
          </a:p>
          <a:p>
            <a:r>
              <a:rPr lang="pt-PT" sz="2400" dirty="0"/>
              <a:t>André Lourenço</a:t>
            </a:r>
          </a:p>
          <a:p>
            <a:r>
              <a:rPr lang="pt-PT" sz="2400" dirty="0"/>
              <a:t>Artur Ferreira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5F5F53-DDD4-092B-098F-0B773DAF3DED}"/>
              </a:ext>
            </a:extLst>
          </p:cNvPr>
          <p:cNvSpPr/>
          <p:nvPr/>
        </p:nvSpPr>
        <p:spPr>
          <a:xfrm>
            <a:off x="0" y="3568847"/>
            <a:ext cx="121920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Licenciatura em Engenharia Informática e de Computadores</a:t>
            </a:r>
          </a:p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 e Seminário</a:t>
            </a:r>
          </a:p>
          <a:p>
            <a:pPr algn="ctr"/>
            <a:r>
              <a:rPr lang="pt-PT" sz="32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Verão 2024/2025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70071-4044-3E30-FFE3-2B501871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</a:t>
            </a:fld>
            <a:endParaRPr lang="pt-P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23E54-BBFA-3717-D10E-CD60643B5803}"/>
              </a:ext>
            </a:extLst>
          </p:cNvPr>
          <p:cNvSpPr txBox="1"/>
          <p:nvPr/>
        </p:nvSpPr>
        <p:spPr>
          <a:xfrm>
            <a:off x="3800072" y="237614"/>
            <a:ext cx="83919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r>
              <a:rPr lang="pt-PT" sz="48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pt-PT" sz="320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Proteção Civil </a:t>
            </a:r>
            <a:endParaRPr lang="pt-PT" sz="4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Imagem 7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78298EA9-93BB-66A2-D7BF-21AA94C53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2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089A-3EBC-4F0D-2B60-8C40A4D4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11885A-02ED-5345-B799-D1F9F4A08B80}"/>
              </a:ext>
            </a:extLst>
          </p:cNvPr>
          <p:cNvSpPr/>
          <p:nvPr/>
        </p:nvSpPr>
        <p:spPr>
          <a:xfrm>
            <a:off x="3960000" y="393066"/>
            <a:ext cx="823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Agenda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AC03132-EEC7-E60B-3DCC-99DBAC745B50}"/>
              </a:ext>
            </a:extLst>
          </p:cNvPr>
          <p:cNvSpPr/>
          <p:nvPr/>
        </p:nvSpPr>
        <p:spPr>
          <a:xfrm>
            <a:off x="559308" y="1381533"/>
            <a:ext cx="11073384" cy="5191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Acidente grave ou catástrofe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Objetivos</a:t>
            </a:r>
            <a:endParaRPr lang="pt-PT" sz="9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Solução Desenvolvida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Conclusões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Demonstração</a:t>
            </a:r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74C9CD9E-5133-42BC-5432-1893E93A0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798FCB6D-BC97-79ED-283D-A01AC5EED127}"/>
              </a:ext>
            </a:extLst>
          </p:cNvPr>
          <p:cNvSpPr txBox="1">
            <a:spLocks/>
          </p:cNvSpPr>
          <p:nvPr/>
        </p:nvSpPr>
        <p:spPr>
          <a:xfrm>
            <a:off x="11567160" y="6356350"/>
            <a:ext cx="400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A70A3B-5F76-43E9-8B14-C31B86FEBF88}" type="slidenum">
              <a:rPr lang="pt-PT" smtClean="0"/>
              <a:pPr/>
              <a:t>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60483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EC70D-D756-485A-BF5B-729154A5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2C2D82C-B851-9222-9255-D92E76900252}"/>
              </a:ext>
            </a:extLst>
          </p:cNvPr>
          <p:cNvSpPr/>
          <p:nvPr/>
        </p:nvSpPr>
        <p:spPr>
          <a:xfrm>
            <a:off x="3960000" y="393066"/>
            <a:ext cx="8232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48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Acidente grave ou catástrofe</a:t>
            </a:r>
            <a:endParaRPr lang="pt-PT" sz="48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5BD3730-499F-2B8C-38E5-50E270A48B25}"/>
              </a:ext>
            </a:extLst>
          </p:cNvPr>
          <p:cNvSpPr/>
          <p:nvPr/>
        </p:nvSpPr>
        <p:spPr>
          <a:xfrm>
            <a:off x="559307" y="1645573"/>
            <a:ext cx="11280267" cy="40928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3200" b="1" dirty="0"/>
              <a:t>Acidente grave </a:t>
            </a:r>
            <a:r>
              <a:rPr lang="pt-PT" sz="3200" dirty="0"/>
              <a:t>- </a:t>
            </a:r>
            <a:r>
              <a:rPr lang="pt-PT" sz="2800" dirty="0"/>
              <a:t>Evento súbito e inesperado que causa ou pode causar danos significativos à saúde humana, ao ambiente ou a bens materiais, exigindo medidas de resposta imediata.</a:t>
            </a:r>
          </a:p>
          <a:p>
            <a:pPr algn="just">
              <a:lnSpc>
                <a:spcPct val="150000"/>
              </a:lnSpc>
            </a:pPr>
            <a:endParaRPr lang="pt-PT" sz="2800" dirty="0"/>
          </a:p>
          <a:p>
            <a:pPr algn="just">
              <a:lnSpc>
                <a:spcPct val="150000"/>
              </a:lnSpc>
            </a:pPr>
            <a:r>
              <a:rPr lang="pt-PT" sz="3200" b="1" dirty="0"/>
              <a:t>Catástrofe</a:t>
            </a:r>
            <a:r>
              <a:rPr lang="pt-PT" sz="3200" dirty="0"/>
              <a:t> - </a:t>
            </a:r>
            <a:r>
              <a:rPr lang="pt-PT" sz="2800" dirty="0"/>
              <a:t>Acontecimento de grande dimensão e impacto que provoca perturbações severas no funcionamento normal da sociedade</a:t>
            </a:r>
            <a:endParaRPr lang="pt-PT" sz="3200" dirty="0"/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2248AC2B-1B62-E150-9218-E99EF23B9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8CD40B3-D2BF-B275-F9AD-188531B6D239}"/>
              </a:ext>
            </a:extLst>
          </p:cNvPr>
          <p:cNvSpPr txBox="1">
            <a:spLocks/>
          </p:cNvSpPr>
          <p:nvPr/>
        </p:nvSpPr>
        <p:spPr>
          <a:xfrm>
            <a:off x="11567160" y="6356350"/>
            <a:ext cx="400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A70A3B-5F76-43E9-8B14-C31B86FEBF88}" type="slidenum">
              <a:rPr lang="pt-PT" smtClean="0"/>
              <a:pPr/>
              <a:t>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2059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ECC8F-67C7-1717-CF16-B8347A58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arthquake - Free nature icons">
            <a:extLst>
              <a:ext uri="{FF2B5EF4-FFF2-40B4-BE49-F238E27FC236}">
                <a16:creationId xmlns:a16="http://schemas.microsoft.com/office/drawing/2014/main" id="{21F524D7-271B-AA1F-2905-2B4AB3D79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656" y="2133000"/>
            <a:ext cx="1296000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ogo - ícones de natureza grátis">
            <a:extLst>
              <a:ext uri="{FF2B5EF4-FFF2-40B4-BE49-F238E27FC236}">
                <a16:creationId xmlns:a16="http://schemas.microsoft.com/office/drawing/2014/main" id="{D821D22F-E210-7B62-CA04-90C39A961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40" y="2133000"/>
            <a:ext cx="1296000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asa inundada - ícones de natureza grátis">
            <a:extLst>
              <a:ext uri="{FF2B5EF4-FFF2-40B4-BE49-F238E27FC236}">
                <a16:creationId xmlns:a16="http://schemas.microsoft.com/office/drawing/2014/main" id="{9D6C5235-ACA9-946E-AE48-656EE0B36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661" y="3708857"/>
            <a:ext cx="1296000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0C48606B-5EB9-0609-4DC3-9FAC90428F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EFFC83E-3863-A39C-8091-897D4E4BC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3656" y="5284714"/>
            <a:ext cx="1296000" cy="1296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A662BE8-97D6-2D0E-6B48-8EC9CBEEC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140" y="5284714"/>
            <a:ext cx="1296000" cy="1296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657401D-2FBA-6ED1-F13D-F66654C029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8463" y="3708857"/>
            <a:ext cx="1296000" cy="1296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9B51163-C35E-C07E-9E59-7F5323571A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60" y="3708857"/>
            <a:ext cx="1296000" cy="1296000"/>
          </a:xfrm>
          <a:prstGeom prst="rect">
            <a:avLst/>
          </a:prstGeom>
        </p:spPr>
      </p:pic>
      <p:pic>
        <p:nvPicPr>
          <p:cNvPr id="16" name="Imagem 15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C636515A-A64C-0E15-74FD-1302A05518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7989"/>
            <a:ext cx="5885606" cy="5430011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37DCD924-87BD-6CD7-9BDC-55DC08090154}"/>
              </a:ext>
            </a:extLst>
          </p:cNvPr>
          <p:cNvSpPr/>
          <p:nvPr/>
        </p:nvSpPr>
        <p:spPr>
          <a:xfrm>
            <a:off x="3960000" y="393066"/>
            <a:ext cx="8232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48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Acidente grave ou catástrofe</a:t>
            </a:r>
            <a:endParaRPr lang="pt-PT" sz="48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446E343B-BC71-9D11-E6AD-A3E28177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1284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C6B98294-A4D3-5663-D989-BE6776AC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099808"/>
            <a:ext cx="2743200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5</a:t>
            </a:fld>
            <a:endParaRPr lang="pt-PT"/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9A1DCA6C-36B2-C1C3-5753-4BD1F6B2D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8531709-CDC5-29BC-D2A5-C34683AA6EE0}"/>
              </a:ext>
            </a:extLst>
          </p:cNvPr>
          <p:cNvSpPr/>
          <p:nvPr/>
        </p:nvSpPr>
        <p:spPr>
          <a:xfrm>
            <a:off x="3960000" y="393066"/>
            <a:ext cx="8232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48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Acidente grave ou catástrofe</a:t>
            </a:r>
            <a:endParaRPr lang="pt-PT" sz="48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8FDB4FE-D4C8-C7C6-4383-990AE0522D02}"/>
              </a:ext>
            </a:extLst>
          </p:cNvPr>
          <p:cNvSpPr/>
          <p:nvPr/>
        </p:nvSpPr>
        <p:spPr>
          <a:xfrm rot="16200000">
            <a:off x="4255575" y="-1471495"/>
            <a:ext cx="3680854" cy="12192004"/>
          </a:xfrm>
          <a:prstGeom prst="roundRect">
            <a:avLst/>
          </a:prstGeom>
          <a:gradFill>
            <a:gsLst>
              <a:gs pos="42000">
                <a:srgbClr val="FFFF00">
                  <a:alpha val="79000"/>
                </a:srgbClr>
              </a:gs>
              <a:gs pos="40000">
                <a:srgbClr val="FFFF00">
                  <a:alpha val="48000"/>
                  <a:lumMod val="100000"/>
                </a:srgbClr>
              </a:gs>
              <a:gs pos="0">
                <a:srgbClr val="FF0000"/>
              </a:gs>
              <a:gs pos="100000">
                <a:srgbClr val="00B050"/>
              </a:gs>
            </a:gsLst>
          </a:gradFill>
          <a:ln w="19050" cap="rnd">
            <a:solidFill>
              <a:schemeClr val="tx1">
                <a:alpha val="96000"/>
              </a:schemeClr>
            </a:solidFill>
            <a:rou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A2834D3-6B8B-F20E-9720-F3FA3AAF60FA}"/>
              </a:ext>
            </a:extLst>
          </p:cNvPr>
          <p:cNvGrpSpPr>
            <a:grpSpLocks noChangeAspect="1"/>
          </p:cNvGrpSpPr>
          <p:nvPr/>
        </p:nvGrpSpPr>
        <p:grpSpPr>
          <a:xfrm>
            <a:off x="928306" y="2877306"/>
            <a:ext cx="2329434" cy="3494400"/>
            <a:chOff x="-3091989" y="3251089"/>
            <a:chExt cx="2183848" cy="3302113"/>
          </a:xfrm>
        </p:grpSpPr>
        <p:pic>
          <p:nvPicPr>
            <p:cNvPr id="8" name="Picture 2" descr="Earthquake - Free nature icons">
              <a:extLst>
                <a:ext uri="{FF2B5EF4-FFF2-40B4-BE49-F238E27FC236}">
                  <a16:creationId xmlns:a16="http://schemas.microsoft.com/office/drawing/2014/main" id="{13735736-61AD-A2C3-641D-B9D0E6458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091989" y="3251089"/>
              <a:ext cx="1006011" cy="1006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0" descr="Casa inundada - ícones de natureza grátis">
              <a:extLst>
                <a:ext uri="{FF2B5EF4-FFF2-40B4-BE49-F238E27FC236}">
                  <a16:creationId xmlns:a16="http://schemas.microsoft.com/office/drawing/2014/main" id="{76545E16-D86C-4144-4584-FA0950BE3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14152" y="4405078"/>
              <a:ext cx="1006011" cy="1006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DCE1CFC7-3768-251D-D4B5-3F1969BEF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3091989" y="4405078"/>
              <a:ext cx="1006011" cy="1006011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503B9F23-3857-B00E-C3A8-F8B0E5291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914152" y="3251089"/>
              <a:ext cx="1006011" cy="1006011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711324DE-2428-4DCA-D24F-E265989FD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3091989" y="5547191"/>
              <a:ext cx="1006011" cy="1006011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C5BB2E0-F637-5C92-6E40-5EA9E6C86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-1914152" y="5547191"/>
              <a:ext cx="1006011" cy="1006011"/>
            </a:xfrm>
            <a:prstGeom prst="rect">
              <a:avLst/>
            </a:prstGeom>
          </p:spPr>
        </p:pic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343A165A-BB2E-33A4-7D03-3B04FE42E1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7280" y="4058791"/>
            <a:ext cx="1131429" cy="113142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6A617B8-C974-3E7C-8D99-4EBBC66F6A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8913" y="4791251"/>
            <a:ext cx="857143" cy="85714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7E98F37-3B85-DF82-94C5-FC053FA9BB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85695" y="3539041"/>
            <a:ext cx="857143" cy="85714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BBACE6C-65A6-C75A-1BEC-A997AF08EE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8250" y="4791251"/>
            <a:ext cx="857143" cy="857143"/>
          </a:xfrm>
          <a:prstGeom prst="rect">
            <a:avLst/>
          </a:prstGeom>
        </p:spPr>
      </p:pic>
      <p:graphicFrame>
        <p:nvGraphicFramePr>
          <p:cNvPr id="24" name="Diagrama 23">
            <a:extLst>
              <a:ext uri="{FF2B5EF4-FFF2-40B4-BE49-F238E27FC236}">
                <a16:creationId xmlns:a16="http://schemas.microsoft.com/office/drawing/2014/main" id="{E67C0DB8-96A8-9FE2-5A5C-6AF2A0E7A1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3769"/>
              </p:ext>
            </p:extLst>
          </p:nvPr>
        </p:nvGraphicFramePr>
        <p:xfrm>
          <a:off x="-5" y="1859853"/>
          <a:ext cx="12192005" cy="830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E42055BA-446F-CA05-8B43-56FE8666D553}"/>
              </a:ext>
            </a:extLst>
          </p:cNvPr>
          <p:cNvSpPr txBox="1">
            <a:spLocks/>
          </p:cNvSpPr>
          <p:nvPr/>
        </p:nvSpPr>
        <p:spPr>
          <a:xfrm>
            <a:off x="11567160" y="6356350"/>
            <a:ext cx="400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A70A3B-5F76-43E9-8B14-C31B86FEBF88}" type="slidenum">
              <a:rPr lang="pt-PT" smtClean="0"/>
              <a:pPr/>
              <a:t>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59506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C0D3E-139E-7722-B7B0-ED386BC5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m ar livre, céu, texto, chão&#10;&#10;Os conteúdos gerados por IA poderão estar incorretos.">
            <a:extLst>
              <a:ext uri="{FF2B5EF4-FFF2-40B4-BE49-F238E27FC236}">
                <a16:creationId xmlns:a16="http://schemas.microsoft.com/office/drawing/2014/main" id="{60E083FD-5ACB-693E-E80D-841187FE2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991" y="3345392"/>
            <a:ext cx="4709792" cy="333544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A95B25F-7D8D-9773-EE17-1D9422903EF2}"/>
              </a:ext>
            </a:extLst>
          </p:cNvPr>
          <p:cNvSpPr/>
          <p:nvPr/>
        </p:nvSpPr>
        <p:spPr>
          <a:xfrm>
            <a:off x="3960000" y="393066"/>
            <a:ext cx="823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0C887B-AC03-3B14-2733-E02AEDBE1E92}"/>
              </a:ext>
            </a:extLst>
          </p:cNvPr>
          <p:cNvSpPr/>
          <p:nvPr/>
        </p:nvSpPr>
        <p:spPr>
          <a:xfrm>
            <a:off x="1" y="1555649"/>
            <a:ext cx="1219199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4000" u="sng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</a:t>
            </a:r>
            <a:r>
              <a:rPr lang="pt-PT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ona de</a:t>
            </a:r>
            <a:r>
              <a:rPr lang="pt-PT" sz="4000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PT" sz="4000" u="sng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lang="pt-PT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oncentração e </a:t>
            </a:r>
            <a:r>
              <a:rPr lang="pt-PT" sz="4000" u="sng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pt-PT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poio à </a:t>
            </a:r>
            <a:r>
              <a:rPr lang="pt-PT" sz="4000" u="sng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pt-PT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opulação</a:t>
            </a:r>
            <a:endParaRPr lang="pt-PT" sz="4000" b="0" u="sng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Imagem 8" descr="Uma imagem com mobília, interior, parede, mesa&#10;&#10;Os conteúdos gerados por IA poderão estar incorretos.">
            <a:extLst>
              <a:ext uri="{FF2B5EF4-FFF2-40B4-BE49-F238E27FC236}">
                <a16:creationId xmlns:a16="http://schemas.microsoft.com/office/drawing/2014/main" id="{42285CDF-FAB4-7DCB-1B4F-C1D0FAE99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373" y="5620808"/>
            <a:ext cx="1562410" cy="1054322"/>
          </a:xfrm>
          <a:prstGeom prst="rect">
            <a:avLst/>
          </a:prstGeom>
        </p:spPr>
      </p:pic>
      <p:pic>
        <p:nvPicPr>
          <p:cNvPr id="5" name="Imagem 4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CA2BA87B-BB21-E4EC-07B7-3EA98291E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CC38216-C641-5FB0-BB82-1FA706795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8609" y="427295"/>
            <a:ext cx="857143" cy="857143"/>
          </a:xfrm>
          <a:prstGeom prst="rect">
            <a:avLst/>
          </a:prstGeom>
        </p:spPr>
      </p:pic>
      <p:pic>
        <p:nvPicPr>
          <p:cNvPr id="12" name="Imagem 11" descr="Uma imagem com mobília, interior, mesa, teto&#10;&#10;Os conteúdos gerados por IA podem estar incorretos.">
            <a:extLst>
              <a:ext uri="{FF2B5EF4-FFF2-40B4-BE49-F238E27FC236}">
                <a16:creationId xmlns:a16="http://schemas.microsoft.com/office/drawing/2014/main" id="{9A85DE58-3DF5-0876-D55D-CBECDDD66D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45" y="3339688"/>
            <a:ext cx="4458868" cy="3335442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B13275AD-1F76-2FF5-CE04-9E8747D2B8E7}"/>
              </a:ext>
            </a:extLst>
          </p:cNvPr>
          <p:cNvSpPr/>
          <p:nvPr/>
        </p:nvSpPr>
        <p:spPr>
          <a:xfrm>
            <a:off x="0" y="2256766"/>
            <a:ext cx="12192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Proporciona alojamento temporário de emergência ao cidadão deslocado na sequência de </a:t>
            </a:r>
            <a:r>
              <a:rPr lang="pt-PT" sz="36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acidente grave ou catástrofe</a:t>
            </a:r>
            <a:endParaRPr lang="pt-PT" sz="2800" b="1" u="sng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8B169789-21DC-B6ED-13AB-12B1FA7438CC}"/>
              </a:ext>
            </a:extLst>
          </p:cNvPr>
          <p:cNvSpPr txBox="1">
            <a:spLocks/>
          </p:cNvSpPr>
          <p:nvPr/>
        </p:nvSpPr>
        <p:spPr>
          <a:xfrm>
            <a:off x="11567160" y="6356350"/>
            <a:ext cx="400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A70A3B-5F76-43E9-8B14-C31B86FEBF88}" type="slidenum">
              <a:rPr lang="pt-PT" smtClean="0"/>
              <a:pPr/>
              <a:t>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3840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DB420-9690-99B5-178F-75F9922C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1409A2-6250-C1F7-351D-2E64C7E873A9}"/>
              </a:ext>
            </a:extLst>
          </p:cNvPr>
          <p:cNvSpPr/>
          <p:nvPr/>
        </p:nvSpPr>
        <p:spPr>
          <a:xfrm>
            <a:off x="3103655" y="393066"/>
            <a:ext cx="90883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Problema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08FA083-2669-ECF8-2C6B-9A03B7C0CE45}"/>
              </a:ext>
            </a:extLst>
          </p:cNvPr>
          <p:cNvSpPr/>
          <p:nvPr/>
        </p:nvSpPr>
        <p:spPr>
          <a:xfrm>
            <a:off x="2121408" y="1991863"/>
            <a:ext cx="10070591" cy="37980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Gestão da informação dispersa por cada ZCAP</a:t>
            </a:r>
          </a:p>
          <a:p>
            <a:pPr>
              <a:lnSpc>
                <a:spcPct val="150000"/>
              </a:lnSpc>
            </a:pPr>
            <a:endParaRPr lang="pt-PT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Ausência de estrutura uniformizada</a:t>
            </a:r>
          </a:p>
          <a:p>
            <a:pPr>
              <a:lnSpc>
                <a:spcPct val="150000"/>
              </a:lnSpc>
            </a:pPr>
            <a:endParaRPr lang="pt-PT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Impossibilidade de cruzar dados e obter informação agregada</a:t>
            </a:r>
          </a:p>
        </p:txBody>
      </p:sp>
      <p:pic>
        <p:nvPicPr>
          <p:cNvPr id="3074" name="Picture 2" descr="3d Man Confused PNG Transparent Images Free Download | Vector Files |  Pngtree">
            <a:extLst>
              <a:ext uri="{FF2B5EF4-FFF2-40B4-BE49-F238E27FC236}">
                <a16:creationId xmlns:a16="http://schemas.microsoft.com/office/drawing/2014/main" id="{D35E30D4-CAFB-25AA-7997-003CD0CA3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5656" y="2074263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DB92706B-DA30-2A12-C07B-E3064D7BF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EAAFAF3-3C4C-8AFF-C44A-ACDCDA11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2276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CBAD5-5B59-BC93-0398-B8EFC23C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B16CF2A3-EB9D-5B1F-8DB8-E7253A86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099808"/>
            <a:ext cx="2743200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8</a:t>
            </a:fld>
            <a:endParaRPr lang="pt-PT"/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0587A368-803D-B450-7E25-C736C16EC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C94C682-2141-D160-0DD9-9C794BDCB9D6}"/>
              </a:ext>
            </a:extLst>
          </p:cNvPr>
          <p:cNvSpPr/>
          <p:nvPr/>
        </p:nvSpPr>
        <p:spPr>
          <a:xfrm>
            <a:off x="3960000" y="393066"/>
            <a:ext cx="8232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48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</a:t>
            </a:r>
            <a:endParaRPr lang="pt-PT" sz="48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57ED0E5-7E1E-8439-B6E3-A9121DCD3664}"/>
              </a:ext>
            </a:extLst>
          </p:cNvPr>
          <p:cNvSpPr/>
          <p:nvPr/>
        </p:nvSpPr>
        <p:spPr>
          <a:xfrm rot="16200000">
            <a:off x="4255575" y="-1471495"/>
            <a:ext cx="3680854" cy="12192004"/>
          </a:xfrm>
          <a:prstGeom prst="roundRect">
            <a:avLst/>
          </a:prstGeom>
          <a:gradFill>
            <a:gsLst>
              <a:gs pos="42000">
                <a:srgbClr val="FFFF00">
                  <a:alpha val="79000"/>
                </a:srgbClr>
              </a:gs>
              <a:gs pos="40000">
                <a:srgbClr val="FFFF00">
                  <a:alpha val="48000"/>
                  <a:lumMod val="100000"/>
                </a:srgbClr>
              </a:gs>
              <a:gs pos="0">
                <a:srgbClr val="FF0000"/>
              </a:gs>
              <a:gs pos="100000">
                <a:srgbClr val="00B050"/>
              </a:gs>
            </a:gsLst>
          </a:gradFill>
          <a:ln w="19050" cap="rnd">
            <a:solidFill>
              <a:schemeClr val="tx1">
                <a:alpha val="96000"/>
              </a:schemeClr>
            </a:solidFill>
            <a:rou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dk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5AB524-B2FE-49A2-E622-9C364DAD216A}"/>
              </a:ext>
            </a:extLst>
          </p:cNvPr>
          <p:cNvSpPr/>
          <p:nvPr/>
        </p:nvSpPr>
        <p:spPr>
          <a:xfrm>
            <a:off x="7082671" y="2699463"/>
            <a:ext cx="2513254" cy="1095685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600" b="1" dirty="0" err="1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3600" b="1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PT" sz="12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Sistema de apoio à </a:t>
            </a:r>
          </a:p>
          <a:p>
            <a:pPr algn="ctr"/>
            <a:r>
              <a:rPr lang="pt-PT" sz="12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Proteção Civil</a:t>
            </a:r>
            <a:endParaRPr lang="pt-PT" sz="16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6C83F19-9A63-6A23-DC0B-5C7097A47DDD}"/>
              </a:ext>
            </a:extLst>
          </p:cNvPr>
          <p:cNvGrpSpPr>
            <a:grpSpLocks noChangeAspect="1"/>
          </p:cNvGrpSpPr>
          <p:nvPr/>
        </p:nvGrpSpPr>
        <p:grpSpPr>
          <a:xfrm>
            <a:off x="407606" y="2877306"/>
            <a:ext cx="2329434" cy="3494400"/>
            <a:chOff x="-3091989" y="3251089"/>
            <a:chExt cx="2183848" cy="3302113"/>
          </a:xfrm>
        </p:grpSpPr>
        <p:pic>
          <p:nvPicPr>
            <p:cNvPr id="8" name="Picture 2" descr="Earthquake - Free nature icons">
              <a:extLst>
                <a:ext uri="{FF2B5EF4-FFF2-40B4-BE49-F238E27FC236}">
                  <a16:creationId xmlns:a16="http://schemas.microsoft.com/office/drawing/2014/main" id="{EA237CEE-BB31-3946-C5B1-5A5C5F5B8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091989" y="3251089"/>
              <a:ext cx="1006011" cy="1006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0" descr="Casa inundada - ícones de natureza grátis">
              <a:extLst>
                <a:ext uri="{FF2B5EF4-FFF2-40B4-BE49-F238E27FC236}">
                  <a16:creationId xmlns:a16="http://schemas.microsoft.com/office/drawing/2014/main" id="{956CEC0B-420C-D009-2A2E-1A84AFC32A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14152" y="4405078"/>
              <a:ext cx="1006011" cy="1006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1C99BC8D-E45E-687D-8BF3-D00D0BEBB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3091989" y="4405078"/>
              <a:ext cx="1006011" cy="1006011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5C06925A-21DF-B4FC-F641-CA88645E4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914152" y="3251089"/>
              <a:ext cx="1006011" cy="1006011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2FF8A544-8FCC-54A7-5D65-AD0078F17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3091989" y="5547191"/>
              <a:ext cx="1006011" cy="1006011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15CE9CB-DC02-9D53-11E2-75B79A57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-1914152" y="5547191"/>
              <a:ext cx="1006011" cy="1006011"/>
            </a:xfrm>
            <a:prstGeom prst="rect">
              <a:avLst/>
            </a:prstGeom>
          </p:spPr>
        </p:pic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5D830EC0-270A-8C12-08B0-9C22C35A49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9283" y="4264224"/>
            <a:ext cx="1131429" cy="113142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048913D-2071-E071-D845-ED343C5057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8611" y="5106888"/>
            <a:ext cx="857143" cy="85714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5249D2D-48B1-BAF9-B87A-582AF4CBE3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1768" y="3865376"/>
            <a:ext cx="1028571" cy="102857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9CC0C2C-3279-B4E9-5AE2-4EF6217ECE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5393" y="3854678"/>
            <a:ext cx="857143" cy="85714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A9D14D9-46C8-9355-0640-5C2CCA8A76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7948" y="5106888"/>
            <a:ext cx="857143" cy="85714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5C9CA7A-6172-6983-24C6-B94D80DD76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0787" y="5247383"/>
            <a:ext cx="1028571" cy="1028571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9D74939A-0755-B39E-B2F7-96C789B5A2B7}"/>
              </a:ext>
            </a:extLst>
          </p:cNvPr>
          <p:cNvSpPr/>
          <p:nvPr/>
        </p:nvSpPr>
        <p:spPr>
          <a:xfrm>
            <a:off x="9704805" y="2901292"/>
            <a:ext cx="2487196" cy="664797"/>
          </a:xfrm>
          <a:prstGeom prst="rect">
            <a:avLst/>
          </a:prstGeom>
          <a:noFill/>
        </p:spPr>
        <p:txBody>
          <a:bodyPr wrap="square" lIns="170688" tIns="85344" rIns="170688" bIns="85344">
            <a:spAutoFit/>
          </a:bodyPr>
          <a:lstStyle/>
          <a:p>
            <a:pPr algn="ctr"/>
            <a:r>
              <a:rPr lang="pt-PT" sz="3200" b="1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ZCAPs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45C7456D-42DD-F774-F36F-4055178BA9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7861989" y="3825366"/>
            <a:ext cx="1030439" cy="102857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E7B8D0A-A9CB-3EF7-4C89-58D9834E32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7879862" y="5252922"/>
            <a:ext cx="1030439" cy="1028571"/>
          </a:xfrm>
          <a:prstGeom prst="rect">
            <a:avLst/>
          </a:prstGeom>
        </p:spPr>
      </p:pic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E5C5A62-A459-4934-A272-CF67F84BEBD9}"/>
              </a:ext>
            </a:extLst>
          </p:cNvPr>
          <p:cNvSpPr/>
          <p:nvPr/>
        </p:nvSpPr>
        <p:spPr>
          <a:xfrm>
            <a:off x="7267730" y="2778834"/>
            <a:ext cx="2159379" cy="3680856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4946073-AB89-2F58-9B78-A03CE9FD9D4C}"/>
              </a:ext>
            </a:extLst>
          </p:cNvPr>
          <p:cNvSpPr/>
          <p:nvPr/>
        </p:nvSpPr>
        <p:spPr>
          <a:xfrm>
            <a:off x="0" y="1750591"/>
            <a:ext cx="12192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Criar um sistema computacional centralizado </a:t>
            </a:r>
          </a:p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 assistir na gestão das ZCAP</a:t>
            </a:r>
            <a:endParaRPr lang="pt-PT" sz="3200" b="1" u="sng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EAFCCBCD-9603-E191-1819-653B311BB8BB}"/>
              </a:ext>
            </a:extLst>
          </p:cNvPr>
          <p:cNvSpPr txBox="1">
            <a:spLocks/>
          </p:cNvSpPr>
          <p:nvPr/>
        </p:nvSpPr>
        <p:spPr>
          <a:xfrm>
            <a:off x="11567160" y="6356350"/>
            <a:ext cx="400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A70A3B-5F76-43E9-8B14-C31B86FEBF88}" type="slidenum">
              <a:rPr lang="pt-PT" smtClean="0"/>
              <a:pPr/>
              <a:t>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3027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F661-E90B-8A28-C527-621B54E6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442FAC2-8FC5-1BDA-01E9-22D72AC25F03}"/>
              </a:ext>
            </a:extLst>
          </p:cNvPr>
          <p:cNvSpPr/>
          <p:nvPr/>
        </p:nvSpPr>
        <p:spPr>
          <a:xfrm>
            <a:off x="3103656" y="356668"/>
            <a:ext cx="90883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Solução desenvolvida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m 5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5C1A955B-9065-0455-3F72-C7FA56CE4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44" name="Retângulo 43">
            <a:extLst>
              <a:ext uri="{FF2B5EF4-FFF2-40B4-BE49-F238E27FC236}">
                <a16:creationId xmlns:a16="http://schemas.microsoft.com/office/drawing/2014/main" id="{80A02DA7-F262-0FBC-BABE-6473858768DE}"/>
              </a:ext>
            </a:extLst>
          </p:cNvPr>
          <p:cNvSpPr/>
          <p:nvPr/>
        </p:nvSpPr>
        <p:spPr>
          <a:xfrm>
            <a:off x="0" y="129492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Solução modular e  integrada</a:t>
            </a:r>
          </a:p>
        </p:txBody>
      </p: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EE656710-5BEC-4D84-604D-47623599F309}"/>
              </a:ext>
            </a:extLst>
          </p:cNvPr>
          <p:cNvGrpSpPr>
            <a:grpSpLocks noChangeAspect="1"/>
          </p:cNvGrpSpPr>
          <p:nvPr/>
        </p:nvGrpSpPr>
        <p:grpSpPr>
          <a:xfrm>
            <a:off x="616727" y="2768233"/>
            <a:ext cx="2588579" cy="1871996"/>
            <a:chOff x="1330476" y="6556362"/>
            <a:chExt cx="3939831" cy="2849181"/>
          </a:xfrm>
        </p:grpSpPr>
        <p:pic>
          <p:nvPicPr>
            <p:cNvPr id="82" name="Picture 10">
              <a:extLst>
                <a:ext uri="{FF2B5EF4-FFF2-40B4-BE49-F238E27FC236}">
                  <a16:creationId xmlns:a16="http://schemas.microsoft.com/office/drawing/2014/main" id="{C27E3FD7-08AF-7144-284A-78BC5D37B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22" y="7584334"/>
              <a:ext cx="3259941" cy="839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20" descr="Kotlin Logo PNG Transparent &amp; SVG Vector - Freebie Supply">
              <a:extLst>
                <a:ext uri="{FF2B5EF4-FFF2-40B4-BE49-F238E27FC236}">
                  <a16:creationId xmlns:a16="http://schemas.microsoft.com/office/drawing/2014/main" id="{BFB55651-C07A-4AAA-8994-00C1A54305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9778" y="7919019"/>
              <a:ext cx="1800371" cy="13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26" descr="Understanding JSON Web Tokens (JWT) for Secure Information Sharing | by  Safdar Ali | Medium">
              <a:extLst>
                <a:ext uri="{FF2B5EF4-FFF2-40B4-BE49-F238E27FC236}">
                  <a16:creationId xmlns:a16="http://schemas.microsoft.com/office/drawing/2014/main" id="{6A91859B-44CF-80A7-BC2D-93E67DFFB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5" y="8738789"/>
              <a:ext cx="1587506" cy="666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1F6A4D5B-1ACB-97D3-2B2B-808D8F6D6D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0476" y="6556362"/>
              <a:ext cx="3939831" cy="27396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</p:grpSp>
      <p:pic>
        <p:nvPicPr>
          <p:cNvPr id="86" name="Picture 4" descr="Sql server Icons - Iconshock">
            <a:extLst>
              <a:ext uri="{FF2B5EF4-FFF2-40B4-BE49-F238E27FC236}">
                <a16:creationId xmlns:a16="http://schemas.microsoft.com/office/drawing/2014/main" id="{5FC8D3D8-2383-6BD4-E6EF-3C8C4F761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982" y="5467165"/>
            <a:ext cx="1032469" cy="10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C530B33-75A5-45B4-92FA-0DEE6B54B258}"/>
              </a:ext>
            </a:extLst>
          </p:cNvPr>
          <p:cNvSpPr>
            <a:spLocks noChangeAspect="1"/>
          </p:cNvSpPr>
          <p:nvPr/>
        </p:nvSpPr>
        <p:spPr>
          <a:xfrm>
            <a:off x="870783" y="4906532"/>
            <a:ext cx="2074867" cy="174427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pic>
        <p:nvPicPr>
          <p:cNvPr id="88" name="Picture 42" descr="Cloud Icon PNGs for Free Download">
            <a:extLst>
              <a:ext uri="{FF2B5EF4-FFF2-40B4-BE49-F238E27FC236}">
                <a16:creationId xmlns:a16="http://schemas.microsoft.com/office/drawing/2014/main" id="{67473EBB-7B9C-5C7B-A1C9-46FD4E433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74" y="4009249"/>
            <a:ext cx="2406291" cy="133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9" name="Conexão reta unidirecional 88">
            <a:extLst>
              <a:ext uri="{FF2B5EF4-FFF2-40B4-BE49-F238E27FC236}">
                <a16:creationId xmlns:a16="http://schemas.microsoft.com/office/drawing/2014/main" id="{77F1B3A9-2153-395B-EA2F-10B5B309844D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V="1">
            <a:off x="1908217" y="4568232"/>
            <a:ext cx="2800" cy="338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584FCCBC-4438-39D5-75FA-98873C5AE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765" y="3273401"/>
            <a:ext cx="437375" cy="43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" name="Agrupar 91">
            <a:extLst>
              <a:ext uri="{FF2B5EF4-FFF2-40B4-BE49-F238E27FC236}">
                <a16:creationId xmlns:a16="http://schemas.microsoft.com/office/drawing/2014/main" id="{49712AFF-AEFD-B74D-EE84-800464AC8B30}"/>
              </a:ext>
            </a:extLst>
          </p:cNvPr>
          <p:cNvGrpSpPr/>
          <p:nvPr/>
        </p:nvGrpSpPr>
        <p:grpSpPr>
          <a:xfrm>
            <a:off x="7724838" y="2358061"/>
            <a:ext cx="1536269" cy="1021790"/>
            <a:chOff x="8587622" y="4873842"/>
            <a:chExt cx="2132051" cy="1449376"/>
          </a:xfrm>
        </p:grpSpPr>
        <p:sp>
          <p:nvSpPr>
            <p:cNvPr id="93" name="Retângulo: Cantos Arredondados 92">
              <a:extLst>
                <a:ext uri="{FF2B5EF4-FFF2-40B4-BE49-F238E27FC236}">
                  <a16:creationId xmlns:a16="http://schemas.microsoft.com/office/drawing/2014/main" id="{243912A4-7E88-4E44-68B7-1D2D39694B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623" y="4876960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94" name="Picture 8" descr="Brand">
              <a:extLst>
                <a:ext uri="{FF2B5EF4-FFF2-40B4-BE49-F238E27FC236}">
                  <a16:creationId xmlns:a16="http://schemas.microsoft.com/office/drawing/2014/main" id="{5F688A52-CFC1-4588-FAC3-92142903E2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865" y="5345661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4" descr="Windows Logo PNGs for Free Download">
              <a:extLst>
                <a:ext uri="{FF2B5EF4-FFF2-40B4-BE49-F238E27FC236}">
                  <a16:creationId xmlns:a16="http://schemas.microsoft.com/office/drawing/2014/main" id="{83438682-8DC4-ACE3-2AAE-05347620D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4310" y="5049476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id="{17A7693C-90C7-C757-9800-A39E25BFDBED}"/>
                </a:ext>
              </a:extLst>
            </p:cNvPr>
            <p:cNvSpPr txBox="1"/>
            <p:nvPr/>
          </p:nvSpPr>
          <p:spPr>
            <a:xfrm>
              <a:off x="8587622" y="4873842"/>
              <a:ext cx="2132051" cy="480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dirty="0"/>
                <a:t>Desktop App</a:t>
              </a:r>
            </a:p>
          </p:txBody>
        </p:sp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1343A1D5-A626-3529-899E-4018C5E17691}"/>
              </a:ext>
            </a:extLst>
          </p:cNvPr>
          <p:cNvGrpSpPr/>
          <p:nvPr/>
        </p:nvGrpSpPr>
        <p:grpSpPr>
          <a:xfrm>
            <a:off x="10159865" y="2357142"/>
            <a:ext cx="1536269" cy="1019592"/>
            <a:chOff x="8603297" y="7086559"/>
            <a:chExt cx="2132049" cy="1446258"/>
          </a:xfrm>
        </p:grpSpPr>
        <p:pic>
          <p:nvPicPr>
            <p:cNvPr id="98" name="Picture 4" descr="Database icon - Free download on Iconfinder">
              <a:extLst>
                <a:ext uri="{FF2B5EF4-FFF2-40B4-BE49-F238E27FC236}">
                  <a16:creationId xmlns:a16="http://schemas.microsoft.com/office/drawing/2014/main" id="{92393AA3-B592-AE94-BBF3-268832346F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441" y="7538699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Imagem 98">
              <a:extLst>
                <a:ext uri="{FF2B5EF4-FFF2-40B4-BE49-F238E27FC236}">
                  <a16:creationId xmlns:a16="http://schemas.microsoft.com/office/drawing/2014/main" id="{23D366FB-062E-877D-8527-655BCC668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100" name="Retângulo: Cantos Arredondados 99">
              <a:extLst>
                <a:ext uri="{FF2B5EF4-FFF2-40B4-BE49-F238E27FC236}">
                  <a16:creationId xmlns:a16="http://schemas.microsoft.com/office/drawing/2014/main" id="{486FB535-568C-C575-7316-0E0B1DDC66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3297" y="7086559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DB3DCC68-7534-2DAC-1AFE-8B715F9012CC}"/>
                </a:ext>
              </a:extLst>
            </p:cNvPr>
            <p:cNvSpPr txBox="1"/>
            <p:nvPr/>
          </p:nvSpPr>
          <p:spPr>
            <a:xfrm>
              <a:off x="8603297" y="7092379"/>
              <a:ext cx="2132049" cy="742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400" dirty="0"/>
                <a:t>Local Database</a:t>
              </a:r>
            </a:p>
          </p:txBody>
        </p:sp>
      </p:grpSp>
      <p:cxnSp>
        <p:nvCxnSpPr>
          <p:cNvPr id="102" name="Conexão reta unidirecional 101">
            <a:extLst>
              <a:ext uri="{FF2B5EF4-FFF2-40B4-BE49-F238E27FC236}">
                <a16:creationId xmlns:a16="http://schemas.microsoft.com/office/drawing/2014/main" id="{CF98CA31-4F32-5CAE-5367-7A0B12025202}"/>
              </a:ext>
            </a:extLst>
          </p:cNvPr>
          <p:cNvCxnSpPr>
            <a:cxnSpLocks/>
            <a:stCxn id="100" idx="1"/>
            <a:endCxn id="93" idx="3"/>
          </p:cNvCxnSpPr>
          <p:nvPr/>
        </p:nvCxnSpPr>
        <p:spPr>
          <a:xfrm flipH="1">
            <a:off x="9261107" y="2866938"/>
            <a:ext cx="898758" cy="31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xão reta unidirecional 84">
            <a:extLst>
              <a:ext uri="{FF2B5EF4-FFF2-40B4-BE49-F238E27FC236}">
                <a16:creationId xmlns:a16="http://schemas.microsoft.com/office/drawing/2014/main" id="{AD2F0B3D-E735-58A9-13A2-CB9EFC2A436F}"/>
              </a:ext>
            </a:extLst>
          </p:cNvPr>
          <p:cNvCxnSpPr>
            <a:cxnSpLocks/>
            <a:stCxn id="91" idx="1"/>
            <a:endCxn id="88" idx="3"/>
          </p:cNvCxnSpPr>
          <p:nvPr/>
        </p:nvCxnSpPr>
        <p:spPr>
          <a:xfrm rot="10800000" flipV="1">
            <a:off x="6600465" y="3492089"/>
            <a:ext cx="2895300" cy="1185574"/>
          </a:xfrm>
          <a:prstGeom prst="bentConnector3">
            <a:avLst>
              <a:gd name="adj1" fmla="val 84543"/>
            </a:avLst>
          </a:prstGeom>
          <a:ln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7F539B5F-98A2-1214-D75C-E49340FAAFA1}"/>
              </a:ext>
            </a:extLst>
          </p:cNvPr>
          <p:cNvSpPr txBox="1"/>
          <p:nvPr/>
        </p:nvSpPr>
        <p:spPr>
          <a:xfrm>
            <a:off x="9096444" y="3629232"/>
            <a:ext cx="131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Sync Service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40C44CF1-5B67-C685-EA77-60938D250D17}"/>
              </a:ext>
            </a:extLst>
          </p:cNvPr>
          <p:cNvSpPr txBox="1"/>
          <p:nvPr/>
        </p:nvSpPr>
        <p:spPr>
          <a:xfrm>
            <a:off x="616727" y="2801894"/>
            <a:ext cx="258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Web API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2617B7FE-8825-56C7-F9EA-8BE56F86725B}"/>
              </a:ext>
            </a:extLst>
          </p:cNvPr>
          <p:cNvSpPr txBox="1"/>
          <p:nvPr/>
        </p:nvSpPr>
        <p:spPr>
          <a:xfrm>
            <a:off x="870782" y="4978529"/>
            <a:ext cx="21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DataBase</a:t>
            </a:r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C52E349B-242D-4D62-B55F-2C9261FCE9B6}"/>
              </a:ext>
            </a:extLst>
          </p:cNvPr>
          <p:cNvSpPr>
            <a:spLocks noChangeAspect="1"/>
          </p:cNvSpPr>
          <p:nvPr/>
        </p:nvSpPr>
        <p:spPr>
          <a:xfrm>
            <a:off x="4359887" y="2700574"/>
            <a:ext cx="2074867" cy="804554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62720FE8-03DB-766A-137A-BB3574DD43DC}"/>
              </a:ext>
            </a:extLst>
          </p:cNvPr>
          <p:cNvSpPr txBox="1"/>
          <p:nvPr/>
        </p:nvSpPr>
        <p:spPr>
          <a:xfrm>
            <a:off x="4359886" y="2778453"/>
            <a:ext cx="2074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External </a:t>
            </a:r>
          </a:p>
          <a:p>
            <a:pPr algn="ctr"/>
            <a:r>
              <a:rPr lang="pt-PT" dirty="0"/>
              <a:t>Clients</a:t>
            </a:r>
          </a:p>
        </p:txBody>
      </p:sp>
      <p:cxnSp>
        <p:nvCxnSpPr>
          <p:cNvPr id="109" name="Conexão reta unidirecional 108">
            <a:extLst>
              <a:ext uri="{FF2B5EF4-FFF2-40B4-BE49-F238E27FC236}">
                <a16:creationId xmlns:a16="http://schemas.microsoft.com/office/drawing/2014/main" id="{D0B249AD-6B5B-9CD7-A507-542647C38E62}"/>
              </a:ext>
            </a:extLst>
          </p:cNvPr>
          <p:cNvCxnSpPr>
            <a:cxnSpLocks/>
            <a:stCxn id="88" idx="0"/>
            <a:endCxn id="107" idx="2"/>
          </p:cNvCxnSpPr>
          <p:nvPr/>
        </p:nvCxnSpPr>
        <p:spPr>
          <a:xfrm flipV="1">
            <a:off x="5397320" y="3505128"/>
            <a:ext cx="1" cy="5041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4125E8F2-6260-BA01-EE63-B91FF2FA0B08}"/>
              </a:ext>
            </a:extLst>
          </p:cNvPr>
          <p:cNvSpPr>
            <a:spLocks noChangeAspect="1"/>
          </p:cNvSpPr>
          <p:nvPr/>
        </p:nvSpPr>
        <p:spPr>
          <a:xfrm>
            <a:off x="421296" y="1929134"/>
            <a:ext cx="2976378" cy="4824092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65018965-A653-C6C4-6F9D-93DFB7906422}"/>
              </a:ext>
            </a:extLst>
          </p:cNvPr>
          <p:cNvSpPr txBox="1"/>
          <p:nvPr/>
        </p:nvSpPr>
        <p:spPr>
          <a:xfrm>
            <a:off x="421296" y="2046633"/>
            <a:ext cx="2976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Backend</a:t>
            </a:r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67228226-5C18-5341-F6BC-6A569178B954}"/>
              </a:ext>
            </a:extLst>
          </p:cNvPr>
          <p:cNvSpPr>
            <a:spLocks noChangeAspect="1"/>
          </p:cNvSpPr>
          <p:nvPr/>
        </p:nvSpPr>
        <p:spPr>
          <a:xfrm>
            <a:off x="7345233" y="1927330"/>
            <a:ext cx="4684842" cy="2081920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9676BC28-6857-965B-AAED-92808E4947E6}"/>
              </a:ext>
            </a:extLst>
          </p:cNvPr>
          <p:cNvSpPr txBox="1"/>
          <p:nvPr/>
        </p:nvSpPr>
        <p:spPr>
          <a:xfrm>
            <a:off x="7343039" y="1940410"/>
            <a:ext cx="4684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  <p:cxnSp>
        <p:nvCxnSpPr>
          <p:cNvPr id="114" name="Conexão reta unidirecional 84">
            <a:extLst>
              <a:ext uri="{FF2B5EF4-FFF2-40B4-BE49-F238E27FC236}">
                <a16:creationId xmlns:a16="http://schemas.microsoft.com/office/drawing/2014/main" id="{C829538D-CDE3-6453-7D10-1C876C659E67}"/>
              </a:ext>
            </a:extLst>
          </p:cNvPr>
          <p:cNvCxnSpPr>
            <a:cxnSpLocks/>
            <a:stCxn id="100" idx="2"/>
            <a:endCxn id="91" idx="3"/>
          </p:cNvCxnSpPr>
          <p:nvPr/>
        </p:nvCxnSpPr>
        <p:spPr>
          <a:xfrm rot="5400000">
            <a:off x="10372893" y="2936981"/>
            <a:ext cx="115355" cy="99486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xão reta unidirecional 84">
            <a:extLst>
              <a:ext uri="{FF2B5EF4-FFF2-40B4-BE49-F238E27FC236}">
                <a16:creationId xmlns:a16="http://schemas.microsoft.com/office/drawing/2014/main" id="{099D7DC7-8CD7-2CF7-89FA-AF7F8D636CC4}"/>
              </a:ext>
            </a:extLst>
          </p:cNvPr>
          <p:cNvCxnSpPr>
            <a:cxnSpLocks/>
            <a:stCxn id="158" idx="1"/>
            <a:endCxn id="88" idx="2"/>
          </p:cNvCxnSpPr>
          <p:nvPr/>
        </p:nvCxnSpPr>
        <p:spPr>
          <a:xfrm rot="10800000">
            <a:off x="5397321" y="5346077"/>
            <a:ext cx="4182465" cy="93924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tângulo 131">
            <a:extLst>
              <a:ext uri="{FF2B5EF4-FFF2-40B4-BE49-F238E27FC236}">
                <a16:creationId xmlns:a16="http://schemas.microsoft.com/office/drawing/2014/main" id="{11CB9E1D-FAB1-B335-1FBE-8D909347F9A0}"/>
              </a:ext>
            </a:extLst>
          </p:cNvPr>
          <p:cNvSpPr/>
          <p:nvPr/>
        </p:nvSpPr>
        <p:spPr>
          <a:xfrm rot="5400000">
            <a:off x="9410078" y="3896204"/>
            <a:ext cx="7253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</p:txBody>
      </p:sp>
      <p:pic>
        <p:nvPicPr>
          <p:cNvPr id="158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ED1CB6F6-4007-8D36-ED30-976009F2F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785" y="6066629"/>
            <a:ext cx="437375" cy="43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81832F5B-AD7A-7386-4D07-0698905A6C13}"/>
              </a:ext>
            </a:extLst>
          </p:cNvPr>
          <p:cNvGrpSpPr/>
          <p:nvPr/>
        </p:nvGrpSpPr>
        <p:grpSpPr>
          <a:xfrm>
            <a:off x="7808858" y="5151289"/>
            <a:ext cx="1536269" cy="1021790"/>
            <a:chOff x="8587622" y="4873842"/>
            <a:chExt cx="2132051" cy="1449376"/>
          </a:xfrm>
        </p:grpSpPr>
        <p:sp>
          <p:nvSpPr>
            <p:cNvPr id="160" name="Retângulo: Cantos Arredondados 159">
              <a:extLst>
                <a:ext uri="{FF2B5EF4-FFF2-40B4-BE49-F238E27FC236}">
                  <a16:creationId xmlns:a16="http://schemas.microsoft.com/office/drawing/2014/main" id="{369073A2-5AF0-B611-7812-DC1EE18067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623" y="4876960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pic>
          <p:nvPicPr>
            <p:cNvPr id="161" name="Picture 8" descr="Brand">
              <a:extLst>
                <a:ext uri="{FF2B5EF4-FFF2-40B4-BE49-F238E27FC236}">
                  <a16:creationId xmlns:a16="http://schemas.microsoft.com/office/drawing/2014/main" id="{EA0544FF-B759-27FE-ECD2-D792268642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865" y="5345661"/>
              <a:ext cx="571589" cy="831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4" descr="Windows Logo PNGs for Free Download">
              <a:extLst>
                <a:ext uri="{FF2B5EF4-FFF2-40B4-BE49-F238E27FC236}">
                  <a16:creationId xmlns:a16="http://schemas.microsoft.com/office/drawing/2014/main" id="{9BC63096-CB53-EEC3-F71F-8CBBCAEB5E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4310" y="5049476"/>
              <a:ext cx="1170535" cy="1170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A5861175-5989-FD4C-41C2-1B20E4F9E19E}"/>
                </a:ext>
              </a:extLst>
            </p:cNvPr>
            <p:cNvSpPr txBox="1"/>
            <p:nvPr/>
          </p:nvSpPr>
          <p:spPr>
            <a:xfrm>
              <a:off x="8587622" y="4873842"/>
              <a:ext cx="2132051" cy="480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dirty="0"/>
                <a:t>Desktop App</a:t>
              </a:r>
            </a:p>
          </p:txBody>
        </p:sp>
      </p:grpSp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7AFA12D5-35C7-9DC8-5929-6566F88A0358}"/>
              </a:ext>
            </a:extLst>
          </p:cNvPr>
          <p:cNvGrpSpPr/>
          <p:nvPr/>
        </p:nvGrpSpPr>
        <p:grpSpPr>
          <a:xfrm>
            <a:off x="10243885" y="5150370"/>
            <a:ext cx="1536269" cy="1019592"/>
            <a:chOff x="8603297" y="7086559"/>
            <a:chExt cx="2132049" cy="1446258"/>
          </a:xfrm>
        </p:grpSpPr>
        <p:pic>
          <p:nvPicPr>
            <p:cNvPr id="165" name="Picture 4" descr="Database icon - Free download on Iconfinder">
              <a:extLst>
                <a:ext uri="{FF2B5EF4-FFF2-40B4-BE49-F238E27FC236}">
                  <a16:creationId xmlns:a16="http://schemas.microsoft.com/office/drawing/2014/main" id="{1A4B7EE3-74D2-7E8E-9194-BEE65D499F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3441" y="7538699"/>
              <a:ext cx="741546" cy="741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6" name="Imagem 165">
              <a:extLst>
                <a:ext uri="{FF2B5EF4-FFF2-40B4-BE49-F238E27FC236}">
                  <a16:creationId xmlns:a16="http://schemas.microsoft.com/office/drawing/2014/main" id="{289A1E3D-2E32-066E-C045-DE972908F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921674" y="7648767"/>
              <a:ext cx="607493" cy="601242"/>
            </a:xfrm>
            <a:prstGeom prst="rect">
              <a:avLst/>
            </a:prstGeom>
          </p:spPr>
        </p:pic>
        <p:sp>
          <p:nvSpPr>
            <p:cNvPr id="167" name="Retângulo: Cantos Arredondados 166">
              <a:extLst>
                <a:ext uri="{FF2B5EF4-FFF2-40B4-BE49-F238E27FC236}">
                  <a16:creationId xmlns:a16="http://schemas.microsoft.com/office/drawing/2014/main" id="{8A071B10-0A95-228B-A9EB-6D77990ECB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3297" y="7086559"/>
              <a:ext cx="2132049" cy="14462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3360"/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0C70B022-2F21-781B-A649-38E7487AB8E7}"/>
                </a:ext>
              </a:extLst>
            </p:cNvPr>
            <p:cNvSpPr txBox="1"/>
            <p:nvPr/>
          </p:nvSpPr>
          <p:spPr>
            <a:xfrm>
              <a:off x="8603297" y="7092379"/>
              <a:ext cx="2132049" cy="742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400" dirty="0"/>
                <a:t>Local Database</a:t>
              </a:r>
            </a:p>
          </p:txBody>
        </p:sp>
      </p:grpSp>
      <p:cxnSp>
        <p:nvCxnSpPr>
          <p:cNvPr id="169" name="Conexão reta unidirecional 168">
            <a:extLst>
              <a:ext uri="{FF2B5EF4-FFF2-40B4-BE49-F238E27FC236}">
                <a16:creationId xmlns:a16="http://schemas.microsoft.com/office/drawing/2014/main" id="{2D71D8B0-1335-7EBD-973B-C3BD17E82043}"/>
              </a:ext>
            </a:extLst>
          </p:cNvPr>
          <p:cNvCxnSpPr>
            <a:cxnSpLocks/>
            <a:stCxn id="167" idx="1"/>
            <a:endCxn id="160" idx="3"/>
          </p:cNvCxnSpPr>
          <p:nvPr/>
        </p:nvCxnSpPr>
        <p:spPr>
          <a:xfrm flipH="1">
            <a:off x="9345127" y="5660166"/>
            <a:ext cx="898758" cy="31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6CD49C68-5759-B590-4FFB-4F0F7CFC29E3}"/>
              </a:ext>
            </a:extLst>
          </p:cNvPr>
          <p:cNvSpPr txBox="1"/>
          <p:nvPr/>
        </p:nvSpPr>
        <p:spPr>
          <a:xfrm>
            <a:off x="9180464" y="6422460"/>
            <a:ext cx="131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Sync Service</a:t>
            </a:r>
          </a:p>
        </p:txBody>
      </p:sp>
      <p:sp>
        <p:nvSpPr>
          <p:cNvPr id="171" name="Retângulo: Cantos Arredondados 170">
            <a:extLst>
              <a:ext uri="{FF2B5EF4-FFF2-40B4-BE49-F238E27FC236}">
                <a16:creationId xmlns:a16="http://schemas.microsoft.com/office/drawing/2014/main" id="{D2AC0FD6-9783-7266-BC84-C7EE4149E7C2}"/>
              </a:ext>
            </a:extLst>
          </p:cNvPr>
          <p:cNvSpPr>
            <a:spLocks noChangeAspect="1"/>
          </p:cNvSpPr>
          <p:nvPr/>
        </p:nvSpPr>
        <p:spPr>
          <a:xfrm>
            <a:off x="7429253" y="4720558"/>
            <a:ext cx="4684842" cy="2081920"/>
          </a:xfrm>
          <a:prstGeom prst="roundRect">
            <a:avLst>
              <a:gd name="adj" fmla="val 137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3360"/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6D34419B-15DF-2E4E-CB58-ED5883409A7D}"/>
              </a:ext>
            </a:extLst>
          </p:cNvPr>
          <p:cNvSpPr txBox="1"/>
          <p:nvPr/>
        </p:nvSpPr>
        <p:spPr>
          <a:xfrm>
            <a:off x="7427059" y="4733638"/>
            <a:ext cx="4684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Frontend</a:t>
            </a:r>
          </a:p>
        </p:txBody>
      </p:sp>
      <p:cxnSp>
        <p:nvCxnSpPr>
          <p:cNvPr id="173" name="Conexão reta unidirecional 84">
            <a:extLst>
              <a:ext uri="{FF2B5EF4-FFF2-40B4-BE49-F238E27FC236}">
                <a16:creationId xmlns:a16="http://schemas.microsoft.com/office/drawing/2014/main" id="{9BA91931-0E32-3CEE-3AF8-9E43D66C08D6}"/>
              </a:ext>
            </a:extLst>
          </p:cNvPr>
          <p:cNvCxnSpPr>
            <a:cxnSpLocks/>
            <a:stCxn id="167" idx="2"/>
            <a:endCxn id="158" idx="3"/>
          </p:cNvCxnSpPr>
          <p:nvPr/>
        </p:nvCxnSpPr>
        <p:spPr>
          <a:xfrm rot="5400000">
            <a:off x="10456913" y="5730209"/>
            <a:ext cx="115355" cy="99486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exão reta unidirecional 84">
            <a:extLst>
              <a:ext uri="{FF2B5EF4-FFF2-40B4-BE49-F238E27FC236}">
                <a16:creationId xmlns:a16="http://schemas.microsoft.com/office/drawing/2014/main" id="{04EA4D0B-CC38-385A-1C92-D25D4B6F082A}"/>
              </a:ext>
            </a:extLst>
          </p:cNvPr>
          <p:cNvCxnSpPr>
            <a:cxnSpLocks/>
            <a:stCxn id="88" idx="1"/>
            <a:endCxn id="85" idx="3"/>
          </p:cNvCxnSpPr>
          <p:nvPr/>
        </p:nvCxnSpPr>
        <p:spPr>
          <a:xfrm rot="10800000">
            <a:off x="3205306" y="3668233"/>
            <a:ext cx="988868" cy="10094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1" name="Picture 4" descr="Sem wi-fi - ícones de computador grátis">
            <a:extLst>
              <a:ext uri="{FF2B5EF4-FFF2-40B4-BE49-F238E27FC236}">
                <a16:creationId xmlns:a16="http://schemas.microsoft.com/office/drawing/2014/main" id="{96295194-E3C6-6E9F-E870-1006208B8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057" y="3561834"/>
            <a:ext cx="338555" cy="33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2" name="Slide Number Placeholder 6">
            <a:extLst>
              <a:ext uri="{FF2B5EF4-FFF2-40B4-BE49-F238E27FC236}">
                <a16:creationId xmlns:a16="http://schemas.microsoft.com/office/drawing/2014/main" id="{1643F520-9F66-8CA0-5578-9743F72B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462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13292-1103-B9B5-E69E-C7586839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2A0FB8E-B430-43D3-A0E5-85F9246555EB}"/>
              </a:ext>
            </a:extLst>
          </p:cNvPr>
          <p:cNvSpPr/>
          <p:nvPr/>
        </p:nvSpPr>
        <p:spPr>
          <a:xfrm>
            <a:off x="3103656" y="356668"/>
            <a:ext cx="90883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Solução desenvolvida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m 5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F18899F6-E7C5-542A-A36F-9AAE62697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B5820CA-9DA5-6C92-8D8D-BF13AA414F5C}"/>
              </a:ext>
            </a:extLst>
          </p:cNvPr>
          <p:cNvSpPr/>
          <p:nvPr/>
        </p:nvSpPr>
        <p:spPr>
          <a:xfrm>
            <a:off x="0" y="129492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Características Principais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BCE2042-FF63-6F64-B50E-EB0F470D7164}"/>
              </a:ext>
            </a:extLst>
          </p:cNvPr>
          <p:cNvSpPr/>
          <p:nvPr/>
        </p:nvSpPr>
        <p:spPr>
          <a:xfrm>
            <a:off x="0" y="2186166"/>
            <a:ext cx="12192000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PT" sz="3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r>
              <a:rPr lang="pt-PT" sz="3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(Web API)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API: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Spring </a:t>
            </a: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Boot</a:t>
            </a: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Linguagem </a:t>
            </a: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Kotlin</a:t>
            </a: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Autenticação – JWT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Jakarta </a:t>
            </a: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Persistance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JPA</a:t>
            </a:r>
          </a:p>
          <a:p>
            <a:pPr lvl="2"/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de Dados – SQL Server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BE8BE503-F226-DE19-3509-251C67B3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10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2977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5FE6F-456D-CF43-C820-92010CF1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9403F15-1607-DEA1-C745-C77308F227D4}"/>
              </a:ext>
            </a:extLst>
          </p:cNvPr>
          <p:cNvSpPr/>
          <p:nvPr/>
        </p:nvSpPr>
        <p:spPr>
          <a:xfrm>
            <a:off x="3103656" y="356668"/>
            <a:ext cx="90883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Solução desenvolvida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m 5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353CBF62-326B-355E-C478-69AF2CE8B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F1B14C4-5A5F-DE0B-8DC4-394DFAC97DF3}"/>
              </a:ext>
            </a:extLst>
          </p:cNvPr>
          <p:cNvSpPr/>
          <p:nvPr/>
        </p:nvSpPr>
        <p:spPr>
          <a:xfrm>
            <a:off x="0" y="129492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Características Principais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8AF2D89-F9AB-E9C1-1A6E-A71E27DE6C09}"/>
              </a:ext>
            </a:extLst>
          </p:cNvPr>
          <p:cNvSpPr/>
          <p:nvPr/>
        </p:nvSpPr>
        <p:spPr>
          <a:xfrm>
            <a:off x="0" y="2186166"/>
            <a:ext cx="12192000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PT" sz="3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r>
              <a:rPr lang="pt-PT" sz="3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(Web API)</a:t>
            </a: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Separação de responsabilidades: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Controllers</a:t>
            </a: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Services</a:t>
            </a: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Entities</a:t>
            </a: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Repositories</a:t>
            </a: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</a:t>
            </a: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Transfer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Objects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</a:t>
            </a:r>
            <a:r>
              <a:rPr lang="pt-P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DTOs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pt-P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CA85AB2-0F1E-F432-3A80-7F6E00AB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16942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7B2B-FAA5-D95D-7DD2-35CA4D310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8DC8086-5E1F-B3DE-E3CF-A9E158D7D558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(Web API)</a:t>
            </a:r>
          </a:p>
        </p:txBody>
      </p:sp>
      <p:pic>
        <p:nvPicPr>
          <p:cNvPr id="7" name="Imagem 6" descr="Uma imagem com diagrama, texto, file&#10;&#10;Os conteúdos gerados por IA poderão estar incorretos.">
            <a:extLst>
              <a:ext uri="{FF2B5EF4-FFF2-40B4-BE49-F238E27FC236}">
                <a16:creationId xmlns:a16="http://schemas.microsoft.com/office/drawing/2014/main" id="{3F3D2ECE-B7F2-3FE3-1D6B-B40A93124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39" y="1636666"/>
            <a:ext cx="5893148" cy="5159263"/>
          </a:xfrm>
          <a:prstGeom prst="rect">
            <a:avLst/>
          </a:prstGeom>
        </p:spPr>
      </p:pic>
      <p:pic>
        <p:nvPicPr>
          <p:cNvPr id="1030" name="Picture 6" descr="Security - Free security icons">
            <a:extLst>
              <a:ext uri="{FF2B5EF4-FFF2-40B4-BE49-F238E27FC236}">
                <a16:creationId xmlns:a16="http://schemas.microsoft.com/office/drawing/2014/main" id="{BA9692CA-0E0E-34C2-53EC-DFA0E050E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107" y="4522198"/>
            <a:ext cx="732084" cy="73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SON Web Token color icon in PNG, SVG">
            <a:extLst>
              <a:ext uri="{FF2B5EF4-FFF2-40B4-BE49-F238E27FC236}">
                <a16:creationId xmlns:a16="http://schemas.microsoft.com/office/drawing/2014/main" id="{FF6BC649-122F-4470-24EE-01838ED30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191" y="4522198"/>
            <a:ext cx="732084" cy="73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68C5DBA7-BA06-9FA7-F66A-7ADEB44028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0236352-ED45-725E-F71E-573D531791AD}"/>
              </a:ext>
            </a:extLst>
          </p:cNvPr>
          <p:cNvSpPr/>
          <p:nvPr/>
        </p:nvSpPr>
        <p:spPr>
          <a:xfrm>
            <a:off x="6096000" y="3136612"/>
            <a:ext cx="609599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Organização dos </a:t>
            </a:r>
            <a:r>
              <a:rPr lang="pt-PT" sz="3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Endpoints</a:t>
            </a:r>
            <a:endParaRPr lang="pt-PT" sz="32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DE1688D-9BFC-BDA2-1A88-D1E33CDE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7859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99D1-38B5-E705-54C5-060BD840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m texto, diagrama, file, Gráfico&#10;&#10;Os conteúdos gerados por IA poderão estar incorretos.">
            <a:extLst>
              <a:ext uri="{FF2B5EF4-FFF2-40B4-BE49-F238E27FC236}">
                <a16:creationId xmlns:a16="http://schemas.microsoft.com/office/drawing/2014/main" id="{C9CD0505-D66D-05BD-9784-80DF6D958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814" y="1074274"/>
            <a:ext cx="8364185" cy="56472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F35E2C-A1EF-B6F9-B9EE-29884BD50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97" y="5045104"/>
            <a:ext cx="1909369" cy="1676371"/>
          </a:xfrm>
          <a:prstGeom prst="rect">
            <a:avLst/>
          </a:prstGeom>
        </p:spPr>
      </p:pic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CD7A31F2-D9D2-CA90-FAD8-2613755236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F1B92C8-2D50-CF6A-67AA-900F1EC49ED3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(Web API)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F94FACD-B139-CA2F-7939-9587A015F444}"/>
              </a:ext>
            </a:extLst>
          </p:cNvPr>
          <p:cNvSpPr/>
          <p:nvPr/>
        </p:nvSpPr>
        <p:spPr>
          <a:xfrm>
            <a:off x="1" y="3136612"/>
            <a:ext cx="6096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Exemplo de controlador</a:t>
            </a:r>
            <a:endParaRPr lang="pt-PT" sz="32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D826492-4A74-07FB-9F7D-8CC6C5C0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579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A4A8-2640-9C49-8A42-B4FD5049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m texto, diagrama, file, Gráfico&#10;&#10;Os conteúdos gerados por IA poderão estar incorretos.">
            <a:extLst>
              <a:ext uri="{FF2B5EF4-FFF2-40B4-BE49-F238E27FC236}">
                <a16:creationId xmlns:a16="http://schemas.microsoft.com/office/drawing/2014/main" id="{AF63B67E-E6EB-6CC4-985B-829028D09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277" y="2337426"/>
            <a:ext cx="4501490" cy="3039246"/>
          </a:xfrm>
          <a:prstGeom prst="rect">
            <a:avLst/>
          </a:prstGeom>
        </p:spPr>
      </p:pic>
      <p:pic>
        <p:nvPicPr>
          <p:cNvPr id="6" name="Imagem 5" descr="Uma imagem com texto, captura de ecrã, Tipo de letra, documento&#10;&#10;Os conteúdos gerados por IA poderão estar incorretos.">
            <a:extLst>
              <a:ext uri="{FF2B5EF4-FFF2-40B4-BE49-F238E27FC236}">
                <a16:creationId xmlns:a16="http://schemas.microsoft.com/office/drawing/2014/main" id="{574F3F4C-BD65-A495-6277-266CA3FE5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24" y="1390304"/>
            <a:ext cx="3281799" cy="5400855"/>
          </a:xfrm>
          <a:prstGeom prst="rect">
            <a:avLst/>
          </a:prstGeom>
        </p:spPr>
      </p:pic>
      <p:pic>
        <p:nvPicPr>
          <p:cNvPr id="8" name="Imagem 7" descr="Uma imagem com text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0416B53C-F4A3-F0D1-7AF5-C16F1F1DCD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98" y="2448082"/>
            <a:ext cx="3315013" cy="3285297"/>
          </a:xfrm>
          <a:prstGeom prst="rect">
            <a:avLst/>
          </a:prstGeom>
        </p:spPr>
      </p:pic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5D5E7641-73FF-409B-2E25-3045D84116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F50111E-2607-D852-5441-EE4EC992F7B5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(Web API)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EA16CBBD-1E48-ACF4-C9EE-F31CD113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00125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DB01-F51F-B786-536F-71A4AF55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iagram of a building&#10;&#10;AI-generated content may be incorrect.">
            <a:extLst>
              <a:ext uri="{FF2B5EF4-FFF2-40B4-BE49-F238E27FC236}">
                <a16:creationId xmlns:a16="http://schemas.microsoft.com/office/drawing/2014/main" id="{7EAF7036-CA71-D779-5ADE-AAEB38A77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2" y="1868328"/>
            <a:ext cx="11562735" cy="448802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4CC1E2F-CA30-46A3-09D0-E395AA4531A8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de Dados</a:t>
            </a:r>
          </a:p>
        </p:txBody>
      </p:sp>
      <p:pic>
        <p:nvPicPr>
          <p:cNvPr id="1028" name="Picture 4" descr="Sql server Icons - Iconshock">
            <a:extLst>
              <a:ext uri="{FF2B5EF4-FFF2-40B4-BE49-F238E27FC236}">
                <a16:creationId xmlns:a16="http://schemas.microsoft.com/office/drawing/2014/main" id="{C5646C3E-594F-A38C-5B94-A64FA44EE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362" y="392105"/>
            <a:ext cx="820665" cy="82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28B404DA-8EA7-E38D-FC4A-73B041105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25B8943-0AE0-F6C7-DCB8-9C9A9A7946C5}"/>
              </a:ext>
            </a:extLst>
          </p:cNvPr>
          <p:cNvSpPr/>
          <p:nvPr/>
        </p:nvSpPr>
        <p:spPr>
          <a:xfrm>
            <a:off x="0" y="129492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Fluxograma do modelo de dados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488DA07-3CA8-22CF-F48F-6A069713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26586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FD6C-98DB-75DC-A9EF-5A7AE8DE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diagram of a building&#10;&#10;AI-generated content may be incorrect.">
            <a:extLst>
              <a:ext uri="{FF2B5EF4-FFF2-40B4-BE49-F238E27FC236}">
                <a16:creationId xmlns:a16="http://schemas.microsoft.com/office/drawing/2014/main" id="{F366AAC7-2038-592B-908C-CCFE6404A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2" y="1869400"/>
            <a:ext cx="11562736" cy="4488022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804B39E-8B97-5665-C443-3AC31D788DB3}"/>
              </a:ext>
            </a:extLst>
          </p:cNvPr>
          <p:cNvSpPr/>
          <p:nvPr/>
        </p:nvSpPr>
        <p:spPr>
          <a:xfrm>
            <a:off x="420624" y="2772570"/>
            <a:ext cx="1764792" cy="2761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A3D6532-6A4E-E08F-491A-11C9F37148DD}"/>
              </a:ext>
            </a:extLst>
          </p:cNvPr>
          <p:cNvSpPr/>
          <p:nvPr/>
        </p:nvSpPr>
        <p:spPr>
          <a:xfrm>
            <a:off x="2530528" y="2028595"/>
            <a:ext cx="1923288" cy="42331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7111300-07FC-6C38-DF01-2BA6CE52D9A6}"/>
              </a:ext>
            </a:extLst>
          </p:cNvPr>
          <p:cNvSpPr/>
          <p:nvPr/>
        </p:nvSpPr>
        <p:spPr>
          <a:xfrm>
            <a:off x="5030629" y="2048259"/>
            <a:ext cx="2468879" cy="4210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800" b="1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A593706-80EB-EB5B-F9BD-11FCB29CE3AB}"/>
              </a:ext>
            </a:extLst>
          </p:cNvPr>
          <p:cNvSpPr/>
          <p:nvPr/>
        </p:nvSpPr>
        <p:spPr>
          <a:xfrm>
            <a:off x="7714832" y="2026777"/>
            <a:ext cx="4014216" cy="12430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800" b="1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119333E-CD54-F9BC-5C0F-3545F57C8780}"/>
              </a:ext>
            </a:extLst>
          </p:cNvPr>
          <p:cNvSpPr/>
          <p:nvPr/>
        </p:nvSpPr>
        <p:spPr>
          <a:xfrm>
            <a:off x="7658100" y="4315967"/>
            <a:ext cx="4113276" cy="19424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800" b="1" dirty="0"/>
          </a:p>
        </p:txBody>
      </p:sp>
      <p:pic>
        <p:nvPicPr>
          <p:cNvPr id="15" name="Picture 14" descr="A black background with white rectangles with text&#10;&#10;AI-generated content may be incorrect.">
            <a:extLst>
              <a:ext uri="{FF2B5EF4-FFF2-40B4-BE49-F238E27FC236}">
                <a16:creationId xmlns:a16="http://schemas.microsoft.com/office/drawing/2014/main" id="{961F247A-4EB7-8647-A581-74C2309C0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419" y="4221476"/>
            <a:ext cx="1478699" cy="12682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1DF38A-EC2C-51CB-9CE9-813CFD4E52A5}"/>
              </a:ext>
            </a:extLst>
          </p:cNvPr>
          <p:cNvSpPr txBox="1"/>
          <p:nvPr/>
        </p:nvSpPr>
        <p:spPr>
          <a:xfrm>
            <a:off x="2516126" y="2923614"/>
            <a:ext cx="19232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HIERARCHICAL </a:t>
            </a:r>
            <a:r>
              <a:rPr lang="pt-PT" sz="2800" b="1" dirty="0">
                <a:solidFill>
                  <a:schemeClr val="bg1"/>
                </a:solidFill>
              </a:rPr>
              <a:t>TREE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D4EF25F9-9EAF-C61F-A665-7CE7DD7435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683D0A-20D3-2459-DE4A-43CAE1A75684}"/>
              </a:ext>
            </a:extLst>
          </p:cNvPr>
          <p:cNvSpPr txBox="1"/>
          <p:nvPr/>
        </p:nvSpPr>
        <p:spPr>
          <a:xfrm>
            <a:off x="8119413" y="2395948"/>
            <a:ext cx="1862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solidFill>
                  <a:schemeClr val="bg1"/>
                </a:solidFill>
              </a:rPr>
              <a:t>PERSONS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1776AE-58DB-AB3E-4FBD-279E9A29FBBE}"/>
              </a:ext>
            </a:extLst>
          </p:cNvPr>
          <p:cNvSpPr txBox="1"/>
          <p:nvPr/>
        </p:nvSpPr>
        <p:spPr>
          <a:xfrm>
            <a:off x="550557" y="3319790"/>
            <a:ext cx="150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>
                <a:solidFill>
                  <a:schemeClr val="bg1"/>
                </a:solidFill>
              </a:rPr>
              <a:t>USERS</a:t>
            </a:r>
            <a:endParaRPr lang="pt-PT" sz="2800" dirty="0">
              <a:solidFill>
                <a:schemeClr val="bg1"/>
              </a:solidFill>
            </a:endParaRPr>
          </a:p>
        </p:txBody>
      </p:sp>
      <p:pic>
        <p:nvPicPr>
          <p:cNvPr id="36" name="Picture 35" descr="A person and person with white shirts&#10;&#10;AI-generated content may be incorrect.">
            <a:extLst>
              <a:ext uri="{FF2B5EF4-FFF2-40B4-BE49-F238E27FC236}">
                <a16:creationId xmlns:a16="http://schemas.microsoft.com/office/drawing/2014/main" id="{BF7A9C52-EC3B-9B70-90CE-00548FF54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948" y="2267313"/>
            <a:ext cx="1285875" cy="762000"/>
          </a:xfrm>
          <a:prstGeom prst="rect">
            <a:avLst/>
          </a:prstGeom>
        </p:spPr>
      </p:pic>
      <p:pic>
        <p:nvPicPr>
          <p:cNvPr id="38" name="Picture 37" descr="A person and person in suits&#10;&#10;AI-generated content may be incorrect.">
            <a:extLst>
              <a:ext uri="{FF2B5EF4-FFF2-40B4-BE49-F238E27FC236}">
                <a16:creationId xmlns:a16="http://schemas.microsoft.com/office/drawing/2014/main" id="{043CB966-DB74-2338-CB58-519FEB863D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7" y="4153314"/>
            <a:ext cx="1571625" cy="8001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C1BCD1C-E289-8189-48F7-42442E8D2314}"/>
              </a:ext>
            </a:extLst>
          </p:cNvPr>
          <p:cNvSpPr txBox="1"/>
          <p:nvPr/>
        </p:nvSpPr>
        <p:spPr>
          <a:xfrm>
            <a:off x="8059423" y="5087096"/>
            <a:ext cx="2468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dirty="0">
                <a:solidFill>
                  <a:schemeClr val="bg1"/>
                </a:solidFill>
              </a:rPr>
              <a:t>INCIDENTS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3AA685-410B-ACC7-9456-31B351B1C004}"/>
              </a:ext>
            </a:extLst>
          </p:cNvPr>
          <p:cNvSpPr txBox="1"/>
          <p:nvPr/>
        </p:nvSpPr>
        <p:spPr>
          <a:xfrm>
            <a:off x="5209685" y="3401822"/>
            <a:ext cx="205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>
                <a:solidFill>
                  <a:schemeClr val="bg1"/>
                </a:solidFill>
              </a:rPr>
              <a:t>ZCAPS</a:t>
            </a:r>
          </a:p>
        </p:txBody>
      </p:sp>
      <p:pic>
        <p:nvPicPr>
          <p:cNvPr id="50" name="Picture 49" descr="A group of white symbols&#10;&#10;AI-generated content may be incorrect.">
            <a:extLst>
              <a:ext uri="{FF2B5EF4-FFF2-40B4-BE49-F238E27FC236}">
                <a16:creationId xmlns:a16="http://schemas.microsoft.com/office/drawing/2014/main" id="{1B968C07-F68A-C788-F408-BAFD9AF1F1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142" y="4613599"/>
            <a:ext cx="1539181" cy="1378698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C32D4B79-ADB8-EBFD-89B8-31EEA5FF08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4087" y="4013834"/>
            <a:ext cx="1550118" cy="1550118"/>
          </a:xfrm>
          <a:prstGeom prst="rect">
            <a:avLst/>
          </a:prstGeom>
        </p:spPr>
      </p:pic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1B0BB372-C3C2-8B73-A27C-D8C807F11E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0B8C949-7497-401E-7429-C3F28034ACD9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de Dados</a:t>
            </a:r>
          </a:p>
        </p:txBody>
      </p:sp>
      <p:pic>
        <p:nvPicPr>
          <p:cNvPr id="12" name="Picture 4" descr="Sql server Icons - Iconshock">
            <a:extLst>
              <a:ext uri="{FF2B5EF4-FFF2-40B4-BE49-F238E27FC236}">
                <a16:creationId xmlns:a16="http://schemas.microsoft.com/office/drawing/2014/main" id="{A4ED6894-4F55-8CBA-1478-814D6907D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362" y="392105"/>
            <a:ext cx="820665" cy="82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981B82A1-8F98-CCC3-8283-070AE0B62933}"/>
              </a:ext>
            </a:extLst>
          </p:cNvPr>
          <p:cNvSpPr/>
          <p:nvPr/>
        </p:nvSpPr>
        <p:spPr>
          <a:xfrm>
            <a:off x="0" y="129492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Fluxograma do modelo de dados (simplificado)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434DADDA-190E-A04C-0E0C-B42128533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16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4810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ta: Bidirecional 29">
            <a:extLst>
              <a:ext uri="{FF2B5EF4-FFF2-40B4-BE49-F238E27FC236}">
                <a16:creationId xmlns:a16="http://schemas.microsoft.com/office/drawing/2014/main" id="{CF198A48-FEA9-E05B-EA12-A0DDF277ED2B}"/>
              </a:ext>
            </a:extLst>
          </p:cNvPr>
          <p:cNvSpPr/>
          <p:nvPr/>
        </p:nvSpPr>
        <p:spPr>
          <a:xfrm>
            <a:off x="4090417" y="5635127"/>
            <a:ext cx="2968752" cy="275327"/>
          </a:xfrm>
          <a:prstGeom prst="leftRightArrow">
            <a:avLst>
              <a:gd name="adj1" fmla="val 50000"/>
              <a:gd name="adj2" fmla="val 13635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F246DC20-994F-89ED-2B95-FC40380BB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B8F890A-69E0-E552-E4EF-B8930ABB2040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de Dados</a:t>
            </a:r>
          </a:p>
        </p:txBody>
      </p:sp>
      <p:pic>
        <p:nvPicPr>
          <p:cNvPr id="5" name="Picture 4" descr="Sql server Icons - Iconshock">
            <a:extLst>
              <a:ext uri="{FF2B5EF4-FFF2-40B4-BE49-F238E27FC236}">
                <a16:creationId xmlns:a16="http://schemas.microsoft.com/office/drawing/2014/main" id="{1458B0CE-7C3B-D7EA-9F85-683CD3AB2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347" y="2075668"/>
            <a:ext cx="820665" cy="82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C6F118C-6B96-ABE3-1717-AF8B035DE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957" y="2075668"/>
            <a:ext cx="847515" cy="820665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F787639-8388-5760-D4E4-1F3BDAC94130}"/>
              </a:ext>
            </a:extLst>
          </p:cNvPr>
          <p:cNvSpPr/>
          <p:nvPr/>
        </p:nvSpPr>
        <p:spPr>
          <a:xfrm>
            <a:off x="0" y="1491750"/>
            <a:ext cx="409041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Remota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5FDB7F4-F17C-354D-BFD5-A60B672FA5FC}"/>
              </a:ext>
            </a:extLst>
          </p:cNvPr>
          <p:cNvSpPr/>
          <p:nvPr/>
        </p:nvSpPr>
        <p:spPr>
          <a:xfrm>
            <a:off x="6096000" y="1490893"/>
            <a:ext cx="6096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Local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65FAC0-2F90-88D7-0005-BB928CBD9669}"/>
              </a:ext>
            </a:extLst>
          </p:cNvPr>
          <p:cNvSpPr/>
          <p:nvPr/>
        </p:nvSpPr>
        <p:spPr>
          <a:xfrm>
            <a:off x="411480" y="3410712"/>
            <a:ext cx="3678937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startDate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endDate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createdAt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lastUpdatedAt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3522C10-35FB-3C30-093C-E3C4687AE84F}"/>
              </a:ext>
            </a:extLst>
          </p:cNvPr>
          <p:cNvSpPr/>
          <p:nvPr/>
        </p:nvSpPr>
        <p:spPr>
          <a:xfrm>
            <a:off x="7397496" y="2979768"/>
            <a:ext cx="4794502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 (local)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solidFill>
                  <a:srgbClr val="FF3C2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remoteId</a:t>
            </a:r>
            <a:endParaRPr lang="pt-PT" sz="2800" dirty="0">
              <a:ln w="0"/>
              <a:solidFill>
                <a:srgbClr val="FF3C2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startDate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endDate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createdAt</a:t>
            </a:r>
            <a:endParaRPr lang="pt-P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solidFill>
                  <a:srgbClr val="FF3C2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lastUpdatedAt</a:t>
            </a:r>
            <a:endParaRPr lang="pt-PT" sz="2800" dirty="0">
              <a:ln w="0"/>
              <a:solidFill>
                <a:srgbClr val="FF3C2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800" dirty="0" err="1">
                <a:ln w="0"/>
                <a:solidFill>
                  <a:srgbClr val="FF3C2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isSynced</a:t>
            </a:r>
            <a:endParaRPr lang="pt-PT" sz="2800" dirty="0">
              <a:ln w="0"/>
              <a:solidFill>
                <a:srgbClr val="FF3C2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4" descr="Free Sync Icon - Free Download Design &amp; Development Icons | IconScout">
            <a:extLst>
              <a:ext uri="{FF2B5EF4-FFF2-40B4-BE49-F238E27FC236}">
                <a16:creationId xmlns:a16="http://schemas.microsoft.com/office/drawing/2014/main" id="{DFAD7991-9EDE-9124-A2EE-B25DDB3AF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409" y="2197889"/>
            <a:ext cx="576223" cy="57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57CB91E5-01CE-D18B-15BF-3C31832C587F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5894632" y="2486001"/>
            <a:ext cx="27013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0A8EB56F-E49F-B828-7231-B41572631DC0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>
          <a:xfrm flipH="1">
            <a:off x="2041012" y="2486001"/>
            <a:ext cx="32773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EE2B1303-FF45-ABF2-5A05-9E050F87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17</a:t>
            </a:fld>
            <a:endParaRPr lang="pt-PT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1E9D311-3CD9-8884-1144-24D30D737D38}"/>
              </a:ext>
            </a:extLst>
          </p:cNvPr>
          <p:cNvSpPr txBox="1"/>
          <p:nvPr/>
        </p:nvSpPr>
        <p:spPr>
          <a:xfrm>
            <a:off x="4949700" y="2723670"/>
            <a:ext cx="1313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Sync Service</a:t>
            </a:r>
          </a:p>
        </p:txBody>
      </p:sp>
      <p:sp>
        <p:nvSpPr>
          <p:cNvPr id="27" name="Seta: Bidirecional 26">
            <a:extLst>
              <a:ext uri="{FF2B5EF4-FFF2-40B4-BE49-F238E27FC236}">
                <a16:creationId xmlns:a16="http://schemas.microsoft.com/office/drawing/2014/main" id="{0B8298BC-5709-EC57-DA3F-7FC03EC4F19F}"/>
              </a:ext>
            </a:extLst>
          </p:cNvPr>
          <p:cNvSpPr/>
          <p:nvPr/>
        </p:nvSpPr>
        <p:spPr>
          <a:xfrm>
            <a:off x="4090417" y="3520440"/>
            <a:ext cx="2968752" cy="275327"/>
          </a:xfrm>
          <a:prstGeom prst="leftRightArrow">
            <a:avLst>
              <a:gd name="adj1" fmla="val 50000"/>
              <a:gd name="adj2" fmla="val 13635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Seta: Para a Esquerda 28">
            <a:extLst>
              <a:ext uri="{FF2B5EF4-FFF2-40B4-BE49-F238E27FC236}">
                <a16:creationId xmlns:a16="http://schemas.microsoft.com/office/drawing/2014/main" id="{9C84794E-84E4-3FF3-2BBA-D16C85DB4F5F}"/>
              </a:ext>
            </a:extLst>
          </p:cNvPr>
          <p:cNvSpPr/>
          <p:nvPr/>
        </p:nvSpPr>
        <p:spPr>
          <a:xfrm>
            <a:off x="4090417" y="6081022"/>
            <a:ext cx="2968752" cy="275327"/>
          </a:xfrm>
          <a:prstGeom prst="leftArrow">
            <a:avLst>
              <a:gd name="adj1" fmla="val 50000"/>
              <a:gd name="adj2" fmla="val 13816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4504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0F874-C3A8-2FD8-2396-42086A86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CEE7557-C994-30AC-5FB7-E1EA3DDB2ADE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Desktop App</a:t>
            </a:r>
          </a:p>
        </p:txBody>
      </p:sp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73406064-70AB-EE11-FA0D-28DEBFBA4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pic>
        <p:nvPicPr>
          <p:cNvPr id="10" name="Picture 8" descr="Brand">
            <a:extLst>
              <a:ext uri="{FF2B5EF4-FFF2-40B4-BE49-F238E27FC236}">
                <a16:creationId xmlns:a16="http://schemas.microsoft.com/office/drawing/2014/main" id="{FAAD2368-AF5A-446C-7634-C7D30E81F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6133" y="466344"/>
            <a:ext cx="575147" cy="81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D23AE2A9-1E99-1551-1094-84BF585CCA9D}"/>
              </a:ext>
            </a:extLst>
          </p:cNvPr>
          <p:cNvSpPr/>
          <p:nvPr/>
        </p:nvSpPr>
        <p:spPr>
          <a:xfrm>
            <a:off x="0" y="152352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3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</a:t>
            </a:r>
            <a:r>
              <a:rPr lang="pt-P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Principais características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004929B-6B03-8AB9-4D8D-6DBC57597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0" y="2178317"/>
            <a:ext cx="4807051" cy="4360595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204D0117-581E-D929-7C26-F7C914571D99}"/>
              </a:ext>
            </a:extLst>
          </p:cNvPr>
          <p:cNvSpPr/>
          <p:nvPr/>
        </p:nvSpPr>
        <p:spPr>
          <a:xfrm>
            <a:off x="6096000" y="2281122"/>
            <a:ext cx="609599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Modo </a:t>
            </a:r>
            <a:r>
              <a:rPr lang="pt-PT" sz="24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Offline-</a:t>
            </a:r>
            <a:r>
              <a:rPr lang="pt-PT" sz="24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</a:t>
            </a:r>
            <a:endParaRPr lang="pt-PT" sz="24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Motor de sincronização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Multi-língua</a:t>
            </a:r>
            <a:endParaRPr lang="pt-PT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Estrutura hierárquica em árvore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Gestão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ZCAP’s</a:t>
            </a:r>
            <a:endParaRPr lang="pt-PT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Incidentes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Pessoas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Utilizadores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Perfis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Acesso a dados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6DBD7676-2723-4577-B2C1-25374B4F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99736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7AAB-A170-12F7-FC7A-FAF6EABC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565DB88-B8C2-BC3D-0201-DF904D001019}"/>
              </a:ext>
            </a:extLst>
          </p:cNvPr>
          <p:cNvSpPr/>
          <p:nvPr/>
        </p:nvSpPr>
        <p:spPr>
          <a:xfrm>
            <a:off x="659512" y="1287821"/>
            <a:ext cx="11073384" cy="553286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Objetivos atingidos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Desenvolver uma solução funcional e adaptável para gestão das </a:t>
            </a:r>
            <a:r>
              <a:rPr lang="pt-PT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ZCAPs</a:t>
            </a:r>
            <a:endParaRPr lang="pt-PT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Ultrapassados desafios:</a:t>
            </a:r>
          </a:p>
          <a:p>
            <a:pPr marL="1371600" lvl="2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Gestão do projeto e equipa</a:t>
            </a:r>
          </a:p>
          <a:p>
            <a:pPr marL="1371600" lvl="2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Aprendizagem de novas tecnologias</a:t>
            </a:r>
          </a:p>
          <a:p>
            <a:pPr marL="1371600" lvl="2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Desafio técnico de sincronização de dados entre o </a:t>
            </a:r>
            <a:r>
              <a:rPr lang="pt-PT" sz="24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r>
              <a:rPr lang="pt-PT" sz="24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P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</a:t>
            </a:r>
            <a:r>
              <a:rPr lang="pt-PT" sz="24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</a:t>
            </a:r>
            <a:endParaRPr lang="pt-PT" sz="24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1371600" lvl="2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PT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03D195-CAC3-49C3-0957-65C166B0DC6B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Conclusões</a:t>
            </a:r>
          </a:p>
        </p:txBody>
      </p:sp>
      <p:pic>
        <p:nvPicPr>
          <p:cNvPr id="5" name="Imagem 4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3D02528F-1BB4-A366-90EA-62EEFDC93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12711-2C31-80CD-3D70-DBDA127E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19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27252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358F-0C33-FF3A-34C7-521E6A50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DB9B843-C9E7-A871-9313-45603E85E63A}"/>
              </a:ext>
            </a:extLst>
          </p:cNvPr>
          <p:cNvSpPr/>
          <p:nvPr/>
        </p:nvSpPr>
        <p:spPr>
          <a:xfrm>
            <a:off x="128016" y="1488989"/>
            <a:ext cx="11868912" cy="53873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Principais sugestões de trabalho futuro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Criação de </a:t>
            </a:r>
            <a:r>
              <a:rPr lang="pt-PT" sz="2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endpoints</a:t>
            </a:r>
            <a:r>
              <a:rPr lang="pt-PT" sz="2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 dados estatísticos para </a:t>
            </a:r>
            <a:r>
              <a:rPr lang="pt-PT" sz="2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reporting</a:t>
            </a:r>
            <a:endParaRPr lang="pt-PT" sz="22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Interface de resolução de conflitos para registos alterados nos dois pontos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Possibilidade de promover um cliente a </a:t>
            </a:r>
            <a:r>
              <a:rPr lang="pt-PT" sz="2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host</a:t>
            </a: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local temporariamente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Replicar a gestão de Acessos a Dados no </a:t>
            </a:r>
            <a:r>
              <a:rPr lang="pt-PT" sz="2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  <a:endParaRPr lang="pt-PT" sz="22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Mecanismo de </a:t>
            </a:r>
            <a:r>
              <a:rPr lang="pt-PT" sz="2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retentativa</a:t>
            </a: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sincronização com algoritmo </a:t>
            </a:r>
            <a:r>
              <a:rPr lang="pt-PT" sz="2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exponential</a:t>
            </a: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PT" sz="2200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backoff</a:t>
            </a:r>
            <a:endParaRPr lang="pt-PT" sz="2200" i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Melhoria da  gestão da informação local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PT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Desenvolver interface de importação/exportação de ficheiros de dados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FBE039-C193-73A2-AA42-3CDA24B4D188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Trabalho futuro</a:t>
            </a:r>
          </a:p>
        </p:txBody>
      </p:sp>
      <p:pic>
        <p:nvPicPr>
          <p:cNvPr id="5" name="Imagem 4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68A5C153-EF62-016C-4CA0-DB6EFAEE2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F03258D0-F2B1-DBD0-1DBC-1EF1B3B0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20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5680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7FCD-DBA1-A33E-7223-1FCE2817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9F38517-32F4-6C7F-A996-F7D64F3EFE4D}"/>
              </a:ext>
            </a:extLst>
          </p:cNvPr>
          <p:cNvSpPr/>
          <p:nvPr/>
        </p:nvSpPr>
        <p:spPr>
          <a:xfrm>
            <a:off x="3960000" y="356668"/>
            <a:ext cx="823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Desktop App</a:t>
            </a:r>
          </a:p>
        </p:txBody>
      </p:sp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95CA2605-6429-7FC0-40A8-380E9097A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pic>
        <p:nvPicPr>
          <p:cNvPr id="10" name="Picture 8" descr="Brand">
            <a:extLst>
              <a:ext uri="{FF2B5EF4-FFF2-40B4-BE49-F238E27FC236}">
                <a16:creationId xmlns:a16="http://schemas.microsoft.com/office/drawing/2014/main" id="{2A3AF91A-12A8-3A5A-F815-72A740950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6133" y="466344"/>
            <a:ext cx="575147" cy="81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7E37AE6-1745-78CC-F8A9-E127F37F1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0" y="2178317"/>
            <a:ext cx="4807051" cy="43605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2131FC0-F211-AA43-165D-663E69FD8FEB}"/>
              </a:ext>
            </a:extLst>
          </p:cNvPr>
          <p:cNvSpPr/>
          <p:nvPr/>
        </p:nvSpPr>
        <p:spPr>
          <a:xfrm>
            <a:off x="6096000" y="2967335"/>
            <a:ext cx="6095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Demonstração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8CC891F-ACF8-6897-C71E-36D815BC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21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9522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F05F-848E-6915-5368-A2EE86687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D8CCB83-BCC3-8C83-1A82-9D4A5C3D5DD3}"/>
              </a:ext>
            </a:extLst>
          </p:cNvPr>
          <p:cNvSpPr/>
          <p:nvPr/>
        </p:nvSpPr>
        <p:spPr>
          <a:xfrm>
            <a:off x="-147484" y="4045442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Questões?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59DC8A-DB65-E468-2BAD-C707727C1A88}"/>
              </a:ext>
            </a:extLst>
          </p:cNvPr>
          <p:cNvSpPr txBox="1"/>
          <p:nvPr/>
        </p:nvSpPr>
        <p:spPr>
          <a:xfrm>
            <a:off x="863881" y="5218077"/>
            <a:ext cx="33568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u="sng" dirty="0"/>
              <a:t>Estudantes (grupo 43)</a:t>
            </a:r>
          </a:p>
          <a:p>
            <a:endParaRPr lang="pt-PT" sz="2400" u="sng" dirty="0"/>
          </a:p>
          <a:p>
            <a:r>
              <a:rPr lang="pt-PT" sz="2400" dirty="0"/>
              <a:t>Luis Alves – 46974</a:t>
            </a:r>
          </a:p>
          <a:p>
            <a:r>
              <a:rPr lang="pt-PT" sz="2400" dirty="0"/>
              <a:t>Gonçalo Dimas -  48263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D1C6C19-AD69-4D70-09F8-CC5F40879470}"/>
              </a:ext>
            </a:extLst>
          </p:cNvPr>
          <p:cNvSpPr txBox="1"/>
          <p:nvPr/>
        </p:nvSpPr>
        <p:spPr>
          <a:xfrm>
            <a:off x="7711039" y="5218077"/>
            <a:ext cx="22897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u="sng" dirty="0"/>
              <a:t>Orientadores</a:t>
            </a:r>
          </a:p>
          <a:p>
            <a:endParaRPr lang="pt-PT" sz="2400" u="sng" dirty="0"/>
          </a:p>
          <a:p>
            <a:r>
              <a:rPr lang="pt-PT" sz="2400" dirty="0"/>
              <a:t>André Lourenço</a:t>
            </a:r>
          </a:p>
          <a:p>
            <a:r>
              <a:rPr lang="pt-PT" sz="2400" dirty="0"/>
              <a:t>Artur Ferreira</a:t>
            </a:r>
          </a:p>
        </p:txBody>
      </p:sp>
      <p:pic>
        <p:nvPicPr>
          <p:cNvPr id="8" name="Imagem 7" descr="Uma imagem com ar livre, céu, texto, chão&#10;&#10;Os conteúdos gerados por IA poderão estar incorretos.">
            <a:extLst>
              <a:ext uri="{FF2B5EF4-FFF2-40B4-BE49-F238E27FC236}">
                <a16:creationId xmlns:a16="http://schemas.microsoft.com/office/drawing/2014/main" id="{A981B270-FF22-28D5-9511-DEE722195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710" y="1639806"/>
            <a:ext cx="3536193" cy="237578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7271F3-C8B2-2296-65AC-8A1B451AA675}"/>
              </a:ext>
            </a:extLst>
          </p:cNvPr>
          <p:cNvSpPr txBox="1"/>
          <p:nvPr/>
        </p:nvSpPr>
        <p:spPr>
          <a:xfrm>
            <a:off x="3960000" y="393066"/>
            <a:ext cx="823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5400" b="1" dirty="0" err="1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ZCAPNet</a:t>
            </a:r>
            <a:endParaRPr lang="pt-PT" sz="5400" b="1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C3F74A9A-DAAA-846C-2425-87DDA1310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493C07C-7152-22D3-FC47-9C03D59D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160" y="6356350"/>
            <a:ext cx="400256" cy="365125"/>
          </a:xfrm>
        </p:spPr>
        <p:txBody>
          <a:bodyPr/>
          <a:lstStyle/>
          <a:p>
            <a:fld id="{7CA70A3B-5F76-43E9-8B14-C31B86FEBF88}" type="slidenum">
              <a:rPr lang="pt-PT" smtClean="0"/>
              <a:t>22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21627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3B2560-711F-5980-4D33-22DAE870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1542676-1610-0DC5-8EA9-8AC83810DFC5}"/>
              </a:ext>
            </a:extLst>
          </p:cNvPr>
          <p:cNvSpPr/>
          <p:nvPr/>
        </p:nvSpPr>
        <p:spPr>
          <a:xfrm>
            <a:off x="3960000" y="393066"/>
            <a:ext cx="823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</a:t>
            </a:r>
            <a:endParaRPr lang="pt-PT" sz="5400" b="1" cap="none" spc="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549AB5-DF95-D43C-C0DE-1089C148EDB7}"/>
              </a:ext>
            </a:extLst>
          </p:cNvPr>
          <p:cNvSpPr/>
          <p:nvPr/>
        </p:nvSpPr>
        <p:spPr>
          <a:xfrm>
            <a:off x="559307" y="1645573"/>
            <a:ext cx="11280267" cy="4710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600" dirty="0"/>
              <a:t>"Um projeto é um esforço temporário empreendido para criar um produto, serviço ou resultado único.“</a:t>
            </a:r>
            <a:r>
              <a:rPr lang="pt-PT" dirty="0"/>
              <a:t>(PMBOK )</a:t>
            </a:r>
            <a:endParaRPr lang="pt-PT" sz="3600" dirty="0"/>
          </a:p>
          <a:p>
            <a:pPr>
              <a:lnSpc>
                <a:spcPct val="150000"/>
              </a:lnSpc>
            </a:pPr>
            <a:endParaRPr lang="pt-PT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b="1" dirty="0"/>
              <a:t>Temporário</a:t>
            </a:r>
            <a:r>
              <a:rPr lang="pt-PT" sz="2000" dirty="0"/>
              <a:t> – tem início e fim definidos.</a:t>
            </a:r>
            <a:endParaRPr lang="pt-PT" sz="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Único</a:t>
            </a:r>
            <a:r>
              <a:rPr lang="pt-PT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o resultado não é repetitivo ou rotineiro, mesmo que possa ser semelhante a outros.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 específico</a:t>
            </a:r>
            <a:r>
              <a:rPr lang="pt-PT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visa alcançar um resultado claro, como um sistema, relatório, infraestrutura, aplicação, etc.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Requer recursos </a:t>
            </a:r>
            <a:r>
              <a:rPr lang="pt-PT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humanos, materiais, financeiros.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 restrições </a:t>
            </a:r>
            <a:r>
              <a:rPr lang="pt-PT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como tempo, custo, qualidade e âmbito.</a:t>
            </a:r>
          </a:p>
        </p:txBody>
      </p:sp>
      <p:pic>
        <p:nvPicPr>
          <p:cNvPr id="3" name="Imagem 2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98179316-91BD-FCC7-DE1B-4407A2D03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60000" cy="988467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853FF15-0435-6256-545C-89EC9CBBC7D4}"/>
              </a:ext>
            </a:extLst>
          </p:cNvPr>
          <p:cNvSpPr txBox="1">
            <a:spLocks/>
          </p:cNvSpPr>
          <p:nvPr/>
        </p:nvSpPr>
        <p:spPr>
          <a:xfrm>
            <a:off x="11567160" y="6356350"/>
            <a:ext cx="400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A70A3B-5F76-43E9-8B14-C31B86FEBF88}" type="slidenum">
              <a:rPr lang="pt-PT" smtClean="0"/>
              <a:pPr/>
              <a:t>23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119625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615</Words>
  <Application>Microsoft Office PowerPoint</Application>
  <PresentationFormat>Ecrã Panorâmico</PresentationFormat>
  <Paragraphs>197</Paragraphs>
  <Slides>23</Slides>
  <Notes>9</Notes>
  <HiddenSlides>1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olivia dias</dc:creator>
  <cp:lastModifiedBy>Olivia Dias</cp:lastModifiedBy>
  <cp:revision>31</cp:revision>
  <dcterms:created xsi:type="dcterms:W3CDTF">2025-03-16T22:23:43Z</dcterms:created>
  <dcterms:modified xsi:type="dcterms:W3CDTF">2025-07-25T17:20:12Z</dcterms:modified>
</cp:coreProperties>
</file>